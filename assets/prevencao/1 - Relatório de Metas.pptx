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3"/>
  </p:notesMasterIdLst>
  <p:handoutMasterIdLst>
    <p:handoutMasterId r:id="rId24"/>
  </p:handoutMasterIdLst>
  <p:sldIdLst>
    <p:sldId id="257" r:id="rId2"/>
    <p:sldId id="263" r:id="rId3"/>
    <p:sldId id="269" r:id="rId4"/>
    <p:sldId id="261" r:id="rId5"/>
    <p:sldId id="268" r:id="rId6"/>
    <p:sldId id="273" r:id="rId7"/>
    <p:sldId id="262" r:id="rId8"/>
    <p:sldId id="267" r:id="rId9"/>
    <p:sldId id="265" r:id="rId10"/>
    <p:sldId id="280" r:id="rId11"/>
    <p:sldId id="260" r:id="rId12"/>
    <p:sldId id="270" r:id="rId13"/>
    <p:sldId id="271" r:id="rId14"/>
    <p:sldId id="272" r:id="rId15"/>
    <p:sldId id="274" r:id="rId16"/>
    <p:sldId id="276" r:id="rId17"/>
    <p:sldId id="277" r:id="rId18"/>
    <p:sldId id="278" r:id="rId19"/>
    <p:sldId id="279" r:id="rId20"/>
    <p:sldId id="264" r:id="rId21"/>
    <p:sldId id="275" r:id="rId22"/>
  </p:sldIdLst>
  <p:sldSz cx="12192000" cy="6858000"/>
  <p:notesSz cx="6797675" cy="9872663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stavo Henrique dos Santos Balbino Ribeiro" initials="GHdSBR" lastIdx="1" clrIdx="0">
    <p:extLst>
      <p:ext uri="{19B8F6BF-5375-455C-9EA6-DF929625EA0E}">
        <p15:presenceInfo xmlns:p15="http://schemas.microsoft.com/office/powerpoint/2012/main" userId="S::gustavo.ribeiro@grupomateus.com::cb345948-baa5-43d0-b811-2f43fc3ec88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Gráfico de Perdas – DEZ a FEV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0238845144356956"/>
          <c:y val="0.14147726487108553"/>
          <c:w val="0.88624791219279409"/>
          <c:h val="0.68016064718351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Identificada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85000"/>
                    <a:satMod val="130000"/>
                  </a:schemeClr>
                </a:gs>
                <a:gs pos="34000">
                  <a:schemeClr val="accent1">
                    <a:shade val="87000"/>
                    <a:satMod val="125000"/>
                  </a:schemeClr>
                </a:gs>
                <a:gs pos="70000">
                  <a:schemeClr val="accent1">
                    <a:tint val="100000"/>
                    <a:shade val="90000"/>
                    <a:satMod val="130000"/>
                  </a:schemeClr>
                </a:gs>
                <a:gs pos="100000">
                  <a:schemeClr val="accent1"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R$ </a:t>
                    </a:r>
                    <a:r>
                      <a:rPr lang="en-US" dirty="0">
                        <a:solidFill>
                          <a:srgbClr val="FF0000"/>
                        </a:solidFill>
                      </a:rPr>
                      <a:t>-</a:t>
                    </a:r>
                    <a:r>
                      <a:rPr lang="en-US" dirty="0"/>
                      <a:t> </a:t>
                    </a:r>
                    <a:fld id="{4DA2BD71-4031-41DD-9011-8067CFFB2341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[VALOR]</a:t>
                    </a:fld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1F1-45A3-A7DD-CD941151C14C}"/>
                </c:ext>
              </c:extLst>
            </c:dLbl>
            <c:dLbl>
              <c:idx val="1"/>
              <c:layout>
                <c:manualLayout>
                  <c:x val="-1.6414141414141416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R$ </a:t>
                    </a:r>
                    <a:r>
                      <a:rPr lang="en-US" sz="1200" b="0" i="0" u="none" strike="noStrike" kern="1200" baseline="0" dirty="0">
                        <a:solidFill>
                          <a:srgbClr val="FF0000"/>
                        </a:solidFill>
                      </a:rPr>
                      <a:t>- </a:t>
                    </a:r>
                    <a:fld id="{8242AFF9-187C-4B45-A1CC-F8CA3E9D2144}" type="VALUE">
                      <a:rPr lang="en-US" smtClean="0">
                        <a:solidFill>
                          <a:srgbClr val="FF0000"/>
                        </a:solidFill>
                      </a:rPr>
                      <a:pPr/>
                      <a:t>[VALOR]</a:t>
                    </a:fld>
                    <a:endParaRPr lang="en-US" sz="1200" b="0" i="0" u="none" strike="noStrike" kern="1200" baseline="0" dirty="0">
                      <a:solidFill>
                        <a:srgbClr val="FF000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1F1-45A3-A7DD-CD941151C14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R$ </a:t>
                    </a:r>
                    <a:r>
                      <a:rPr lang="en-US" sz="1200" b="0" i="0" u="none" strike="noStrike" kern="1200" baseline="0" dirty="0">
                        <a:solidFill>
                          <a:srgbClr val="FF0000"/>
                        </a:solidFill>
                      </a:rPr>
                      <a:t>- </a:t>
                    </a:r>
                    <a:fld id="{F1BCB61D-CDCC-4994-839E-34B99C6A8514}" type="VALUE">
                      <a:rPr lang="en-US" smtClean="0">
                        <a:solidFill>
                          <a:srgbClr val="FF0000"/>
                        </a:solidFill>
                      </a:rPr>
                      <a:pPr/>
                      <a:t>[VALOR]</a:t>
                    </a:fld>
                    <a:endParaRPr lang="en-US" sz="1200" b="0" i="0" u="none" strike="noStrike" kern="1200" baseline="0" dirty="0">
                      <a:solidFill>
                        <a:srgbClr val="FF000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A1F1-45A3-A7DD-CD941151C1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Planilha1!$A$2:$A$4</c:f>
              <c:strCache>
                <c:ptCount val="3"/>
                <c:pt idx="0">
                  <c:v>DEZ</c:v>
                </c:pt>
                <c:pt idx="1">
                  <c:v>JAN</c:v>
                </c:pt>
                <c:pt idx="2">
                  <c:v>FEV</c:v>
                </c:pt>
              </c:strCache>
            </c:strRef>
          </c:cat>
          <c:val>
            <c:numRef>
              <c:f>Planilha1!$B$2:$B$4</c:f>
              <c:numCache>
                <c:formatCode>#,##0.00</c:formatCode>
                <c:ptCount val="3"/>
                <c:pt idx="0">
                  <c:v>155305.60999999999</c:v>
                </c:pt>
                <c:pt idx="1">
                  <c:v>92216.14</c:v>
                </c:pt>
                <c:pt idx="2">
                  <c:v>59599.64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2D-4B04-9D4A-65A2E1FE3B78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Não Identificada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2.0202020202020204E-2"/>
                  <c:y val="3.3769518515799793E-3"/>
                </c:manualLayout>
              </c:layout>
              <c:tx>
                <c:rich>
                  <a:bodyPr/>
                  <a:lstStyle/>
                  <a:p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R$  </a:t>
                    </a:r>
                    <a:fld id="{6F86B570-45A6-4D2D-8BDC-A91AA1BA6818}" type="VALUE">
                      <a:rPr lang="en-US" smtClean="0"/>
                      <a:pPr/>
                      <a:t>[VALOR]</a:t>
                    </a:fld>
                    <a:endParaRPr lang="en-US" sz="1200" b="0" i="0" u="none" strike="noStrike" kern="1200" baseline="0" dirty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A1F1-45A3-A7DD-CD941151C14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R$ </a:t>
                    </a:r>
                    <a:r>
                      <a:rPr lang="en-US" sz="1200" b="0" i="0" u="none" strike="noStrike" kern="1200" baseline="0" dirty="0">
                        <a:solidFill>
                          <a:srgbClr val="FF0000"/>
                        </a:solidFill>
                      </a:rPr>
                      <a:t>-</a:t>
                    </a:r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 </a:t>
                    </a:r>
                    <a:fld id="{253A1FA0-A729-4062-9050-793A5A270FE5}" type="VALUE">
                      <a:rPr lang="en-US" smtClean="0">
                        <a:solidFill>
                          <a:srgbClr val="FF0000"/>
                        </a:solidFill>
                      </a:rPr>
                      <a:pPr/>
                      <a:t>[VALOR]</a:t>
                    </a:fld>
                    <a:endParaRPr lang="en-US" sz="1200" b="0" i="0" u="none" strike="noStrike" kern="1200" baseline="0" dirty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1F1-45A3-A7DD-CD941151C14C}"/>
                </c:ext>
              </c:extLst>
            </c:dLbl>
            <c:dLbl>
              <c:idx val="2"/>
              <c:layout>
                <c:manualLayout>
                  <c:x val="1.7676767676767676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R$ </a:t>
                    </a:r>
                    <a:r>
                      <a:rPr lang="en-US" sz="1200" b="0" i="0" u="none" strike="noStrike" kern="1200" baseline="0" dirty="0">
                        <a:solidFill>
                          <a:srgbClr val="FF0000"/>
                        </a:solidFill>
                      </a:rPr>
                      <a:t>-</a:t>
                    </a:r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 </a:t>
                    </a:r>
                    <a:fld id="{9B465160-D15A-4FB3-860F-1A3BB6B67FEF}" type="VALUE">
                      <a:rPr lang="en-US" smtClean="0">
                        <a:solidFill>
                          <a:srgbClr val="FF0000"/>
                        </a:solidFill>
                      </a:rPr>
                      <a:pPr/>
                      <a:t>[VALOR]</a:t>
                    </a:fld>
                    <a:endParaRPr lang="en-US" sz="1200" b="0" i="0" u="none" strike="noStrike" kern="1200" baseline="0" dirty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A1F1-45A3-A7DD-CD941151C1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Planilha1!$A$2:$A$4</c:f>
              <c:strCache>
                <c:ptCount val="3"/>
                <c:pt idx="0">
                  <c:v>DEZ</c:v>
                </c:pt>
                <c:pt idx="1">
                  <c:v>JAN</c:v>
                </c:pt>
                <c:pt idx="2">
                  <c:v>FEV</c:v>
                </c:pt>
              </c:strCache>
            </c:strRef>
          </c:cat>
          <c:val>
            <c:numRef>
              <c:f>Planilha1!$C$2:$C$4</c:f>
              <c:numCache>
                <c:formatCode>#,##0.00</c:formatCode>
                <c:ptCount val="3"/>
                <c:pt idx="0">
                  <c:v>116762.85</c:v>
                </c:pt>
                <c:pt idx="1">
                  <c:v>300406.36</c:v>
                </c:pt>
                <c:pt idx="2">
                  <c:v>47716.76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2D-4B04-9D4A-65A2E1FE3B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28013760"/>
        <c:axId val="528010400"/>
      </c:barChart>
      <c:catAx>
        <c:axId val="5280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28010400"/>
        <c:crosses val="autoZero"/>
        <c:auto val="1"/>
        <c:lblAlgn val="ctr"/>
        <c:lblOffset val="100"/>
        <c:noMultiLvlLbl val="0"/>
      </c:catAx>
      <c:valAx>
        <c:axId val="52801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280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Gráfico de Perdas 2026 –</a:t>
            </a:r>
            <a:r>
              <a:rPr lang="pt-BR" baseline="0" dirty="0"/>
              <a:t> JAN </a:t>
            </a:r>
            <a:r>
              <a:rPr lang="pt-BR" dirty="0"/>
              <a:t>a DEZ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0238845144356956"/>
          <c:y val="0.14147726487108553"/>
          <c:w val="0.88624791219279409"/>
          <c:h val="0.68016064718351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Identificada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85000"/>
                    <a:satMod val="130000"/>
                  </a:schemeClr>
                </a:gs>
                <a:gs pos="34000">
                  <a:schemeClr val="accent1">
                    <a:shade val="87000"/>
                    <a:satMod val="125000"/>
                  </a:schemeClr>
                </a:gs>
                <a:gs pos="70000">
                  <a:schemeClr val="accent1">
                    <a:tint val="100000"/>
                    <a:shade val="90000"/>
                    <a:satMod val="130000"/>
                  </a:schemeClr>
                </a:gs>
                <a:gs pos="100000">
                  <a:schemeClr val="accent1">
                    <a:tint val="100000"/>
                    <a:shade val="100000"/>
                    <a:satMod val="11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1.6414141414141416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R$ </a:t>
                    </a:r>
                    <a:r>
                      <a:rPr lang="en-US" sz="1200" b="0" i="0" u="none" strike="noStrike" kern="1200" baseline="0" dirty="0">
                        <a:solidFill>
                          <a:srgbClr val="FF0000"/>
                        </a:solidFill>
                      </a:rPr>
                      <a:t>- </a:t>
                    </a:r>
                    <a:fld id="{8242AFF9-187C-4B45-A1CC-F8CA3E9D2144}" type="VALUE">
                      <a:rPr lang="en-US" smtClean="0">
                        <a:solidFill>
                          <a:srgbClr val="FF0000"/>
                        </a:solidFill>
                      </a:rPr>
                      <a:pPr/>
                      <a:t>[VALOR]</a:t>
                    </a:fld>
                    <a:endParaRPr lang="en-US" sz="1200" b="0" i="0" u="none" strike="noStrike" kern="1200" baseline="0" dirty="0">
                      <a:solidFill>
                        <a:srgbClr val="FF000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1F1-45A3-A7DD-CD941151C14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R$ </a:t>
                    </a:r>
                    <a:r>
                      <a:rPr lang="en-US" sz="1200" b="0" i="0" u="none" strike="noStrike" kern="1200" baseline="0" dirty="0">
                        <a:solidFill>
                          <a:srgbClr val="FF0000"/>
                        </a:solidFill>
                      </a:rPr>
                      <a:t>- </a:t>
                    </a:r>
                    <a:fld id="{F1BCB61D-CDCC-4994-839E-34B99C6A8514}" type="VALUE">
                      <a:rPr lang="en-US" smtClean="0">
                        <a:solidFill>
                          <a:srgbClr val="FF0000"/>
                        </a:solidFill>
                      </a:rPr>
                      <a:pPr/>
                      <a:t>[VALOR]</a:t>
                    </a:fld>
                    <a:endParaRPr lang="en-US" sz="1200" b="0" i="0" u="none" strike="noStrike" kern="1200" baseline="0" dirty="0">
                      <a:solidFill>
                        <a:srgbClr val="FF000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1F1-45A3-A7DD-CD941151C1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Planilha1!$B$2:$B$13</c:f>
              <c:numCache>
                <c:formatCode>#,##0.00</c:formatCode>
                <c:ptCount val="12"/>
                <c:pt idx="0">
                  <c:v>98902.99</c:v>
                </c:pt>
                <c:pt idx="1">
                  <c:v>59599.64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2D-4B04-9D4A-65A2E1FE3B78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Não Identificada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R$ </a:t>
                    </a:r>
                    <a:r>
                      <a:rPr lang="en-US" sz="1200" b="0" i="0" u="none" strike="noStrike" kern="1200" baseline="0" dirty="0">
                        <a:solidFill>
                          <a:srgbClr val="FF0000"/>
                        </a:solidFill>
                      </a:rPr>
                      <a:t>-</a:t>
                    </a:r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 </a:t>
                    </a:r>
                    <a:fld id="{253A1FA0-A729-4062-9050-793A5A270FE5}" type="VALUE">
                      <a:rPr lang="en-US" smtClean="0">
                        <a:solidFill>
                          <a:srgbClr val="FF0000"/>
                        </a:solidFill>
                      </a:rPr>
                      <a:pPr/>
                      <a:t>[VALOR]</a:t>
                    </a:fld>
                    <a:endParaRPr lang="en-US" sz="1200" b="0" i="0" u="none" strike="noStrike" kern="1200" baseline="0" dirty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A1F1-45A3-A7DD-CD941151C14C}"/>
                </c:ext>
              </c:extLst>
            </c:dLbl>
            <c:dLbl>
              <c:idx val="1"/>
              <c:layout>
                <c:manualLayout>
                  <c:x val="1.7676767676767676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R$ </a:t>
                    </a:r>
                    <a:r>
                      <a:rPr lang="en-US" sz="1200" b="0" i="0" u="none" strike="noStrike" kern="1200" baseline="0" dirty="0">
                        <a:solidFill>
                          <a:srgbClr val="FF0000"/>
                        </a:solidFill>
                      </a:rPr>
                      <a:t>-</a:t>
                    </a:r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 </a:t>
                    </a:r>
                    <a:fld id="{9B465160-D15A-4FB3-860F-1A3BB6B67FEF}" type="VALUE">
                      <a:rPr lang="en-US" smtClean="0">
                        <a:solidFill>
                          <a:srgbClr val="FF0000"/>
                        </a:solidFill>
                      </a:rPr>
                      <a:pPr/>
                      <a:t>[VALOR]</a:t>
                    </a:fld>
                    <a:endParaRPr lang="en-US" sz="1200" b="0" i="0" u="none" strike="noStrike" kern="1200" baseline="0" dirty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1F1-45A3-A7DD-CD941151C1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Planilha1!$C$2:$C$13</c:f>
              <c:numCache>
                <c:formatCode>#,##0.00</c:formatCode>
                <c:ptCount val="12"/>
                <c:pt idx="0">
                  <c:v>361628.55</c:v>
                </c:pt>
                <c:pt idx="1">
                  <c:v>47716.76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2D-4B04-9D4A-65A2E1FE3B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28013760"/>
        <c:axId val="528010400"/>
      </c:barChart>
      <c:catAx>
        <c:axId val="5280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28010400"/>
        <c:crosses val="autoZero"/>
        <c:auto val="1"/>
        <c:lblAlgn val="ctr"/>
        <c:lblOffset val="100"/>
        <c:noMultiLvlLbl val="0"/>
      </c:catAx>
      <c:valAx>
        <c:axId val="52801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280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Gráfico de Perdas 2026 –</a:t>
            </a:r>
            <a:r>
              <a:rPr lang="pt-BR" baseline="0" dirty="0"/>
              <a:t> JAN </a:t>
            </a:r>
            <a:r>
              <a:rPr lang="pt-BR" dirty="0"/>
              <a:t>a DEZ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0238845144356956"/>
          <c:y val="0.14147726487108553"/>
          <c:w val="0.88624791219279409"/>
          <c:h val="0.68016064718351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Vencimento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>
              <a:outerShdw blurRad="38100" dist="25400" dir="2700000" algn="br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1.6414141414141416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R$ </a:t>
                    </a:r>
                    <a:r>
                      <a:rPr lang="en-US" sz="1200" b="0" i="0" u="none" strike="noStrike" kern="1200" baseline="0" dirty="0">
                        <a:solidFill>
                          <a:srgbClr val="FF0000"/>
                        </a:solidFill>
                      </a:rPr>
                      <a:t>- </a:t>
                    </a:r>
                    <a:fld id="{8242AFF9-187C-4B45-A1CC-F8CA3E9D2144}" type="VALUE">
                      <a:rPr lang="en-US" smtClean="0">
                        <a:solidFill>
                          <a:srgbClr val="FF0000"/>
                        </a:solidFill>
                      </a:rPr>
                      <a:pPr/>
                      <a:t>[VALOR]</a:t>
                    </a:fld>
                    <a:endParaRPr lang="en-US" sz="1200" b="0" i="0" u="none" strike="noStrike" kern="1200" baseline="0" dirty="0">
                      <a:solidFill>
                        <a:srgbClr val="FF000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1F1-45A3-A7DD-CD941151C14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R$ </a:t>
                    </a:r>
                    <a:r>
                      <a:rPr lang="en-US" sz="1200" b="0" i="0" u="none" strike="noStrike" kern="1200" baseline="0" dirty="0">
                        <a:solidFill>
                          <a:srgbClr val="FF0000"/>
                        </a:solidFill>
                      </a:rPr>
                      <a:t>- </a:t>
                    </a:r>
                    <a:fld id="{F1BCB61D-CDCC-4994-839E-34B99C6A8514}" type="VALUE">
                      <a:rPr lang="en-US" smtClean="0">
                        <a:solidFill>
                          <a:srgbClr val="FF0000"/>
                        </a:solidFill>
                      </a:rPr>
                      <a:pPr/>
                      <a:t>[VALOR]</a:t>
                    </a:fld>
                    <a:endParaRPr lang="en-US" sz="1200" b="0" i="0" u="none" strike="noStrike" kern="1200" baseline="0" dirty="0">
                      <a:solidFill>
                        <a:srgbClr val="FF000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1F1-45A3-A7DD-CD941151C1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Planilha1!$B$2:$B$13</c:f>
              <c:numCache>
                <c:formatCode>#,##0.00</c:formatCode>
                <c:ptCount val="12"/>
                <c:pt idx="0">
                  <c:v>4142.6000000000004</c:v>
                </c:pt>
                <c:pt idx="1">
                  <c:v>19525.330000000002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2D-4B04-9D4A-65A2E1FE3B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28013760"/>
        <c:axId val="528010400"/>
      </c:barChart>
      <c:catAx>
        <c:axId val="528013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28010400"/>
        <c:crosses val="autoZero"/>
        <c:auto val="1"/>
        <c:lblAlgn val="ctr"/>
        <c:lblOffset val="100"/>
        <c:noMultiLvlLbl val="0"/>
      </c:catAx>
      <c:valAx>
        <c:axId val="52801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2801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14/02/2026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14/02/2026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1932317"/>
            <a:ext cx="6253317" cy="2392795"/>
          </a:xfrm>
        </p:spPr>
        <p:txBody>
          <a:bodyPr rtlCol="0">
            <a:normAutofit/>
          </a:bodyPr>
          <a:lstStyle/>
          <a:p>
            <a:pPr rtl="0"/>
            <a:r>
              <a:rPr lang="pt-br" sz="8000" dirty="0"/>
              <a:t>Relatório de Metas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PREVENÇÃO DE PERDAS 14 - 02 - 2026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13D8CBB-3593-465D-848E-329814EEE9F4}"/>
              </a:ext>
            </a:extLst>
          </p:cNvPr>
          <p:cNvSpPr txBox="1">
            <a:spLocks/>
          </p:cNvSpPr>
          <p:nvPr/>
        </p:nvSpPr>
        <p:spPr>
          <a:xfrm>
            <a:off x="1125855" y="182939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Prevenção de Perdas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F4AA1-9871-8E04-30F8-3EF84614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Tópicos 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917A8-9043-3FB1-9E16-72277D96C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6082453" cy="3760891"/>
          </a:xfrm>
        </p:spPr>
        <p:txBody>
          <a:bodyPr>
            <a:normAutofit lnSpcReduction="10000"/>
          </a:bodyPr>
          <a:lstStyle/>
          <a:p>
            <a:r>
              <a:rPr lang="pt-BR" dirty="0"/>
              <a:t>1. Perda Setores: Identificada x Não Identificada.</a:t>
            </a:r>
          </a:p>
          <a:p>
            <a:r>
              <a:rPr lang="pt-BR" dirty="0"/>
              <a:t>2. Gráfico de Perdas Identificada x Não Identificada.</a:t>
            </a:r>
          </a:p>
          <a:p>
            <a:r>
              <a:rPr lang="pt-BR" dirty="0"/>
              <a:t>3. Gráfico Geral de Perdas Identificada x Não Identificada.</a:t>
            </a:r>
          </a:p>
          <a:p>
            <a:r>
              <a:rPr lang="pt-BR" dirty="0"/>
              <a:t>4. Gráfico Geral de Perdas por Vencimento.</a:t>
            </a:r>
          </a:p>
          <a:p>
            <a:r>
              <a:rPr lang="pt-BR" dirty="0"/>
              <a:t>5. Meta de Venda x Venda Atual.</a:t>
            </a:r>
          </a:p>
          <a:p>
            <a:r>
              <a:rPr lang="pt-BR" dirty="0"/>
              <a:t>6. Baixo Giro / Sem Venda</a:t>
            </a:r>
          </a:p>
          <a:p>
            <a:r>
              <a:rPr lang="pt-BR" dirty="0"/>
              <a:t>7. Negativo da Loja</a:t>
            </a:r>
          </a:p>
          <a:p>
            <a:r>
              <a:rPr lang="pt-BR" dirty="0"/>
              <a:t>8. Maiores Perdas ID – Mercadorias.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AF92BA1-8827-4F4C-B2C9-6DDC3AD062DA}"/>
              </a:ext>
            </a:extLst>
          </p:cNvPr>
          <p:cNvSpPr txBox="1">
            <a:spLocks/>
          </p:cNvSpPr>
          <p:nvPr/>
        </p:nvSpPr>
        <p:spPr>
          <a:xfrm>
            <a:off x="7179733" y="2108200"/>
            <a:ext cx="4919134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18800D46-1EBD-4311-9CC4-9F6AD8D1B773}"/>
              </a:ext>
            </a:extLst>
          </p:cNvPr>
          <p:cNvSpPr txBox="1">
            <a:spLocks/>
          </p:cNvSpPr>
          <p:nvPr/>
        </p:nvSpPr>
        <p:spPr>
          <a:xfrm>
            <a:off x="7247468" y="2108200"/>
            <a:ext cx="51562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9. Maiores Perdas Vencimento – Mercadorias.</a:t>
            </a:r>
          </a:p>
          <a:p>
            <a:r>
              <a:rPr lang="pt-BR" dirty="0"/>
              <a:t>10. Controle DDE Geral.</a:t>
            </a:r>
          </a:p>
          <a:p>
            <a:r>
              <a:rPr lang="pt-BR" dirty="0"/>
              <a:t>11. Tratamento de Perdas</a:t>
            </a:r>
          </a:p>
          <a:p>
            <a:r>
              <a:rPr lang="pt-BR" dirty="0"/>
              <a:t>12. E-mails</a:t>
            </a:r>
          </a:p>
          <a:p>
            <a:r>
              <a:rPr lang="pt-BR" dirty="0"/>
              <a:t>13. Principais Oportunidades.</a:t>
            </a:r>
          </a:p>
        </p:txBody>
      </p:sp>
    </p:spTree>
    <p:extLst>
      <p:ext uri="{BB962C8B-B14F-4D97-AF65-F5344CB8AC3E}">
        <p14:creationId xmlns:p14="http://schemas.microsoft.com/office/powerpoint/2010/main" val="2824498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9CDC6-CE63-5305-EB1E-9C9F8F81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Perda Setores: </a:t>
            </a:r>
            <a:br>
              <a:rPr lang="pt-BR" sz="4000" dirty="0"/>
            </a:br>
            <a:r>
              <a:rPr lang="pt-BR" sz="4000" dirty="0"/>
              <a:t>Identificada x Não Identificada.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422A1F-E7A1-B753-DFB8-7690951B7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R569 - Acompanhamento de Perdas</a:t>
            </a:r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C28214DA-D879-E9AD-8CCE-B4EA58FFF373}"/>
              </a:ext>
            </a:extLst>
          </p:cNvPr>
          <p:cNvSpPr txBox="1">
            <a:spLocks/>
          </p:cNvSpPr>
          <p:nvPr/>
        </p:nvSpPr>
        <p:spPr>
          <a:xfrm>
            <a:off x="1125855" y="182939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Fevereiro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3888135-5F0F-4F64-919C-E13D7D717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66" y="2377127"/>
            <a:ext cx="10447867" cy="295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44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89210-DD60-8391-09CD-EAFC9734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Perda Identificada x Não Identificada.</a:t>
            </a: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8DBDE24F-8114-C326-538A-04A2AEEC46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1971056"/>
              </p:ext>
            </p:extLst>
          </p:nvPr>
        </p:nvGraphicFramePr>
        <p:xfrm>
          <a:off x="1096963" y="2108200"/>
          <a:ext cx="10058400" cy="3760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A0E7F93D-CB85-4D08-BACB-D89880A5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algn="ctr" rt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GMCORE – ROTINA 999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3FF12132-0732-43FA-B9EC-C7890EE8B092}"/>
              </a:ext>
            </a:extLst>
          </p:cNvPr>
          <p:cNvSpPr txBox="1">
            <a:spLocks/>
          </p:cNvSpPr>
          <p:nvPr/>
        </p:nvSpPr>
        <p:spPr>
          <a:xfrm>
            <a:off x="1125855" y="182939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2025 - 2026</a:t>
            </a:r>
          </a:p>
        </p:txBody>
      </p:sp>
    </p:spTree>
    <p:extLst>
      <p:ext uri="{BB962C8B-B14F-4D97-AF65-F5344CB8AC3E}">
        <p14:creationId xmlns:p14="http://schemas.microsoft.com/office/powerpoint/2010/main" val="336381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89210-DD60-8391-09CD-EAFC9734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Perda Geral Identificada x Não Identificada.</a:t>
            </a: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8DBDE24F-8114-C326-538A-04A2AEEC46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3326304"/>
              </p:ext>
            </p:extLst>
          </p:nvPr>
        </p:nvGraphicFramePr>
        <p:xfrm>
          <a:off x="355600" y="2108200"/>
          <a:ext cx="11734800" cy="3760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A0E7F93D-CB85-4D08-BACB-D89880A5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algn="ctr" rt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GMCORE – ROTINA 999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DEC7D99C-2DBF-42BA-A62F-C61CBE66EE3E}"/>
              </a:ext>
            </a:extLst>
          </p:cNvPr>
          <p:cNvSpPr txBox="1">
            <a:spLocks/>
          </p:cNvSpPr>
          <p:nvPr/>
        </p:nvSpPr>
        <p:spPr>
          <a:xfrm>
            <a:off x="1125855" y="182939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8857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89210-DD60-8391-09CD-EAFC9734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Perda Geral Vencimento.</a:t>
            </a: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8DBDE24F-8114-C326-538A-04A2AEEC46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3406944"/>
              </p:ext>
            </p:extLst>
          </p:nvPr>
        </p:nvGraphicFramePr>
        <p:xfrm>
          <a:off x="355600" y="2108200"/>
          <a:ext cx="11734800" cy="3760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A0E7F93D-CB85-4D08-BACB-D89880A5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algn="ctr" rt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GMCORE – ROTINA 1021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F4F44963-1EAA-49C1-9496-1AED93ED044C}"/>
              </a:ext>
            </a:extLst>
          </p:cNvPr>
          <p:cNvSpPr txBox="1">
            <a:spLocks/>
          </p:cNvSpPr>
          <p:nvPr/>
        </p:nvSpPr>
        <p:spPr>
          <a:xfrm>
            <a:off x="1125855" y="182939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60531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DF367-CE40-0722-3217-E02061936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Meta de Venda x Venda Atual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9DDD04-0912-8781-93BF-17638F2A4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R562 - Análise Margem Comercial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6EFDCCC0-46FB-7B61-CDE8-66668CD60339}"/>
              </a:ext>
            </a:extLst>
          </p:cNvPr>
          <p:cNvSpPr txBox="1">
            <a:spLocks/>
          </p:cNvSpPr>
          <p:nvPr/>
        </p:nvSpPr>
        <p:spPr>
          <a:xfrm>
            <a:off x="1125855" y="296128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Fevereiro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27AC5C2-C98E-48FF-B69D-B85204F5E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56" y="2531534"/>
            <a:ext cx="10482088" cy="244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226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951F5-3F91-4E2D-B4AA-9D0BF0CC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Baixo Giro / Sem Venda</a:t>
            </a:r>
            <a:br>
              <a:rPr lang="pt-BR" dirty="0"/>
            </a:br>
            <a:r>
              <a:rPr lang="pt-BR" sz="1200" dirty="0"/>
              <a:t>30 – 60 dias</a:t>
            </a:r>
            <a:endParaRPr lang="pt-BR" dirty="0"/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D4CBD5D3-92A0-4763-AE21-93B04382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algn="ctr" rt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GMSUITE – PRODUTOS SEM GIRO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BA4E447-0110-4140-B35E-726A030F45A4}"/>
              </a:ext>
            </a:extLst>
          </p:cNvPr>
          <p:cNvSpPr txBox="1">
            <a:spLocks/>
          </p:cNvSpPr>
          <p:nvPr/>
        </p:nvSpPr>
        <p:spPr>
          <a:xfrm>
            <a:off x="1125855" y="182939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Fevereiro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D24137-FBED-43F9-A301-1B1AE38B7E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89"/>
          <a:stretch/>
        </p:blipFill>
        <p:spPr>
          <a:xfrm>
            <a:off x="414865" y="2049029"/>
            <a:ext cx="5604935" cy="3916806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BF346C40-67E9-4C81-B062-09B3DA903F14}"/>
              </a:ext>
            </a:extLst>
          </p:cNvPr>
          <p:cNvSpPr txBox="1">
            <a:spLocks/>
          </p:cNvSpPr>
          <p:nvPr/>
        </p:nvSpPr>
        <p:spPr>
          <a:xfrm>
            <a:off x="2965829" y="6020331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Reposição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E9C64D2-2A63-4535-B576-A2BF6944C5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49"/>
          <a:stretch/>
        </p:blipFill>
        <p:spPr>
          <a:xfrm>
            <a:off x="6572947" y="2267532"/>
            <a:ext cx="4797785" cy="3496733"/>
          </a:xfrm>
          <a:prstGeom prst="rect">
            <a:avLst/>
          </a:prstGeom>
        </p:spPr>
      </p:pic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D20FCD76-CFD8-4C3C-9C2F-B632EE2EC30A}"/>
              </a:ext>
            </a:extLst>
          </p:cNvPr>
          <p:cNvSpPr txBox="1">
            <a:spLocks/>
          </p:cNvSpPr>
          <p:nvPr/>
        </p:nvSpPr>
        <p:spPr>
          <a:xfrm>
            <a:off x="9223675" y="5965835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Frios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57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951F5-3F91-4E2D-B4AA-9D0BF0CC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Negativo da Loja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D4CBD5D3-92A0-4763-AE21-93B04382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algn="ctr" rt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GMCORE – ROTINA 422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5503CAC7-5CAF-47A1-BD22-FF01A8DFEB7C}"/>
              </a:ext>
            </a:extLst>
          </p:cNvPr>
          <p:cNvSpPr txBox="1">
            <a:spLocks/>
          </p:cNvSpPr>
          <p:nvPr/>
        </p:nvSpPr>
        <p:spPr>
          <a:xfrm>
            <a:off x="1125855" y="182939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Fevereiro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2997FA3-CD97-46DC-800D-787EE8A8F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699" y="2064134"/>
            <a:ext cx="4487792" cy="3971260"/>
          </a:xfrm>
          <a:prstGeom prst="rect">
            <a:avLst/>
          </a:prstGeom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45B7BF4F-7E78-41C7-A6C6-BD0011B4B670}"/>
              </a:ext>
            </a:extLst>
          </p:cNvPr>
          <p:cNvSpPr txBox="1">
            <a:spLocks/>
          </p:cNvSpPr>
          <p:nvPr/>
        </p:nvSpPr>
        <p:spPr>
          <a:xfrm>
            <a:off x="3156589" y="6035925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Reposição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8877D8C-5165-4D1D-BDAF-FDA131AAF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214" y="2064134"/>
            <a:ext cx="4430249" cy="3971260"/>
          </a:xfrm>
          <a:prstGeom prst="rect">
            <a:avLst/>
          </a:prstGeom>
        </p:spPr>
      </p:pic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CA674D46-15A8-464B-A32B-9B7169AF67D4}"/>
              </a:ext>
            </a:extLst>
          </p:cNvPr>
          <p:cNvSpPr txBox="1">
            <a:spLocks/>
          </p:cNvSpPr>
          <p:nvPr/>
        </p:nvSpPr>
        <p:spPr>
          <a:xfrm>
            <a:off x="9447339" y="6035925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Frios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34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951F5-3F91-4E2D-B4AA-9D0BF0CC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Negativo da Loja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D4CBD5D3-92A0-4763-AE21-93B04382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algn="ctr" rt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GMCORE – ROTINA 422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5503CAC7-5CAF-47A1-BD22-FF01A8DFEB7C}"/>
              </a:ext>
            </a:extLst>
          </p:cNvPr>
          <p:cNvSpPr txBox="1">
            <a:spLocks/>
          </p:cNvSpPr>
          <p:nvPr/>
        </p:nvSpPr>
        <p:spPr>
          <a:xfrm>
            <a:off x="1125855" y="182939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Fevereiro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45B7BF4F-7E78-41C7-A6C6-BD0011B4B670}"/>
              </a:ext>
            </a:extLst>
          </p:cNvPr>
          <p:cNvSpPr txBox="1">
            <a:spLocks/>
          </p:cNvSpPr>
          <p:nvPr/>
        </p:nvSpPr>
        <p:spPr>
          <a:xfrm>
            <a:off x="3156589" y="6035925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Hortifrúti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9AD3FB-3761-4DE6-BF7F-608C7BF48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751" y="2083668"/>
            <a:ext cx="4413688" cy="395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5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B6104-1A44-2752-3D32-0053C48D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Maiores Perdas ID – Mercadorias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1E602C-462A-5D6B-5665-E18E30D0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 rt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GMCORE – ROTINA 999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CA29038-9F16-4855-8793-44922399EBDE}"/>
              </a:ext>
            </a:extLst>
          </p:cNvPr>
          <p:cNvSpPr txBox="1">
            <a:spLocks/>
          </p:cNvSpPr>
          <p:nvPr/>
        </p:nvSpPr>
        <p:spPr>
          <a:xfrm>
            <a:off x="1125855" y="296128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Fevereiro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93EB5736-499E-4598-BFBF-40506590FEE9}"/>
              </a:ext>
            </a:extLst>
          </p:cNvPr>
          <p:cNvSpPr txBox="1">
            <a:spLocks/>
          </p:cNvSpPr>
          <p:nvPr/>
        </p:nvSpPr>
        <p:spPr>
          <a:xfrm>
            <a:off x="2906556" y="5868988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Reposição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E5B82B5C-9F7E-4A4E-8921-6E5A7DB78013}"/>
              </a:ext>
            </a:extLst>
          </p:cNvPr>
          <p:cNvSpPr txBox="1">
            <a:spLocks/>
          </p:cNvSpPr>
          <p:nvPr/>
        </p:nvSpPr>
        <p:spPr>
          <a:xfrm>
            <a:off x="8669618" y="5868988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Hortifrúti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3410962-43ED-4E92-A4AD-3F1C9BAB5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809" y="1979713"/>
            <a:ext cx="3693506" cy="38892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2D6FE9D-ABB7-4F5C-A062-263FB0123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336" y="1979713"/>
            <a:ext cx="3354856" cy="380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88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B6104-1A44-2752-3D32-0053C48D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Maiores Perdas ID – Mercadorias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1E602C-462A-5D6B-5665-E18E30D0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 rt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GMCORE – ROTINA 999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CA29038-9F16-4855-8793-44922399EBDE}"/>
              </a:ext>
            </a:extLst>
          </p:cNvPr>
          <p:cNvSpPr txBox="1">
            <a:spLocks/>
          </p:cNvSpPr>
          <p:nvPr/>
        </p:nvSpPr>
        <p:spPr>
          <a:xfrm>
            <a:off x="1125855" y="296128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Fevereiro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93EB5736-499E-4598-BFBF-40506590FEE9}"/>
              </a:ext>
            </a:extLst>
          </p:cNvPr>
          <p:cNvSpPr txBox="1">
            <a:spLocks/>
          </p:cNvSpPr>
          <p:nvPr/>
        </p:nvSpPr>
        <p:spPr>
          <a:xfrm>
            <a:off x="2906556" y="5868988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Padaria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E5B82B5C-9F7E-4A4E-8921-6E5A7DB78013}"/>
              </a:ext>
            </a:extLst>
          </p:cNvPr>
          <p:cNvSpPr txBox="1">
            <a:spLocks/>
          </p:cNvSpPr>
          <p:nvPr/>
        </p:nvSpPr>
        <p:spPr>
          <a:xfrm>
            <a:off x="8737351" y="5868988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Frios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97EFE22-06BA-4CFC-80C4-1C19DA755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126" y="1954906"/>
            <a:ext cx="3764871" cy="395641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0CEDCE7-8B53-4894-80BC-1609642D1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599" y="2073424"/>
            <a:ext cx="3463516" cy="371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08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B6104-1A44-2752-3D32-0053C48D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Maiores Perdas ID – Mercadorias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1E602C-462A-5D6B-5665-E18E30D0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 rt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GMCORE – ROTINA 999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CA29038-9F16-4855-8793-44922399EBDE}"/>
              </a:ext>
            </a:extLst>
          </p:cNvPr>
          <p:cNvSpPr txBox="1">
            <a:spLocks/>
          </p:cNvSpPr>
          <p:nvPr/>
        </p:nvSpPr>
        <p:spPr>
          <a:xfrm>
            <a:off x="1125855" y="296128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Fevereiro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93EB5736-499E-4598-BFBF-40506590FEE9}"/>
              </a:ext>
            </a:extLst>
          </p:cNvPr>
          <p:cNvSpPr txBox="1">
            <a:spLocks/>
          </p:cNvSpPr>
          <p:nvPr/>
        </p:nvSpPr>
        <p:spPr>
          <a:xfrm>
            <a:off x="2906556" y="5868988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Peixaria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E5B82B5C-9F7E-4A4E-8921-6E5A7DB78013}"/>
              </a:ext>
            </a:extLst>
          </p:cNvPr>
          <p:cNvSpPr txBox="1">
            <a:spLocks/>
          </p:cNvSpPr>
          <p:nvPr/>
        </p:nvSpPr>
        <p:spPr>
          <a:xfrm>
            <a:off x="8576484" y="5868988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Açougue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939EF9D-52B8-4942-A25D-B1CB8E859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556" y="2226733"/>
            <a:ext cx="3550011" cy="358282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42E7791-1376-4BAE-8385-4239B38DA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321" y="2226733"/>
            <a:ext cx="4906060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45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B6104-1A44-2752-3D32-0053C48D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Maiores Perdas Vencimento – Mercadorias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1E602C-462A-5D6B-5665-E18E30D0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 rt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GMCORE – ROTINA 1021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CA29038-9F16-4855-8793-44922399EBDE}"/>
              </a:ext>
            </a:extLst>
          </p:cNvPr>
          <p:cNvSpPr txBox="1">
            <a:spLocks/>
          </p:cNvSpPr>
          <p:nvPr/>
        </p:nvSpPr>
        <p:spPr>
          <a:xfrm>
            <a:off x="1125855" y="296128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Fevereiro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93EB5736-499E-4598-BFBF-40506590FEE9}"/>
              </a:ext>
            </a:extLst>
          </p:cNvPr>
          <p:cNvSpPr txBox="1">
            <a:spLocks/>
          </p:cNvSpPr>
          <p:nvPr/>
        </p:nvSpPr>
        <p:spPr>
          <a:xfrm>
            <a:off x="2906556" y="5868988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Reposição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E5B82B5C-9F7E-4A4E-8921-6E5A7DB78013}"/>
              </a:ext>
            </a:extLst>
          </p:cNvPr>
          <p:cNvSpPr txBox="1">
            <a:spLocks/>
          </p:cNvSpPr>
          <p:nvPr/>
        </p:nvSpPr>
        <p:spPr>
          <a:xfrm>
            <a:off x="8321096" y="5200121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Frios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9012862-B23E-4354-9BBF-8664FA81F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782" y="2015748"/>
            <a:ext cx="4469488" cy="385324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EDD7AB9-CD74-4ABC-AAF9-BD88AA227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39769"/>
            <a:ext cx="5390204" cy="188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11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B6104-1A44-2752-3D32-0053C48D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Maiores Entradas x Saídas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1E602C-462A-5D6B-5665-E18E30D0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 rt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GMCORE – ROTINA 999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CA29038-9F16-4855-8793-44922399EBDE}"/>
              </a:ext>
            </a:extLst>
          </p:cNvPr>
          <p:cNvSpPr txBox="1">
            <a:spLocks/>
          </p:cNvSpPr>
          <p:nvPr/>
        </p:nvSpPr>
        <p:spPr>
          <a:xfrm>
            <a:off x="1125855" y="296128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Fevereiro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93EB5736-499E-4598-BFBF-40506590FEE9}"/>
              </a:ext>
            </a:extLst>
          </p:cNvPr>
          <p:cNvSpPr txBox="1">
            <a:spLocks/>
          </p:cNvSpPr>
          <p:nvPr/>
        </p:nvSpPr>
        <p:spPr>
          <a:xfrm>
            <a:off x="2906556" y="5002323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Entrada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E5B82B5C-9F7E-4A4E-8921-6E5A7DB78013}"/>
              </a:ext>
            </a:extLst>
          </p:cNvPr>
          <p:cNvSpPr txBox="1">
            <a:spLocks/>
          </p:cNvSpPr>
          <p:nvPr/>
        </p:nvSpPr>
        <p:spPr>
          <a:xfrm>
            <a:off x="7918777" y="5002323"/>
            <a:ext cx="940012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Saída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8A34022-6224-4001-82F8-5A1F6FEB7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323" y="3090833"/>
            <a:ext cx="3248478" cy="177189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5B71517-1AB4-4D72-8ECA-B16DC6460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560" y="3090833"/>
            <a:ext cx="4832446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866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B6104-1A44-2752-3D32-0053C48D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Controle DDE Geral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1E602C-462A-5D6B-5665-E18E30D0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 rtl="0"/>
            <a:r>
              <a:rPr lang="pt-BR" sz="1100" b="1" dirty="0">
                <a:latin typeface="Arial" panose="020B0604020202020204" pitchFamily="34" charset="0"/>
                <a:cs typeface="Arial" panose="020B0604020202020204" pitchFamily="34" charset="0"/>
              </a:rPr>
              <a:t>R560 - Indicadores Estoque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5CA29038-9F16-4855-8793-44922399EBDE}"/>
              </a:ext>
            </a:extLst>
          </p:cNvPr>
          <p:cNvSpPr txBox="1">
            <a:spLocks/>
          </p:cNvSpPr>
          <p:nvPr/>
        </p:nvSpPr>
        <p:spPr>
          <a:xfrm>
            <a:off x="1125855" y="296128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Fevereiro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48707AA-F034-4E13-8991-8DF8D4CBC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13" y="2844149"/>
            <a:ext cx="11098174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35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C4197-642B-4E3A-83FE-6F2E33525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Perdas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973CD-7278-4A38-85BC-FE8A6EDDA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14/02/2026</a:t>
            </a:fld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5C432E5-39B2-4500-BBC1-7145CA36A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221027"/>
            <a:ext cx="8763000" cy="377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75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C4197-642B-4E3A-83FE-6F2E33525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Tratamento de Perdas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973CD-7278-4A38-85BC-FE8A6EDDA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14/02/2026</a:t>
            </a:fld>
            <a:endParaRPr lang="en-US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59834D4-7E95-40C5-89C9-60F08CF63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0" y="2084316"/>
            <a:ext cx="11282680" cy="342239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6EA5CB5-7D3C-4DB4-805A-D79886CFB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27" y="5516316"/>
            <a:ext cx="11282680" cy="7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26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B468F-40B4-444D-B6F6-BE8422199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E-mails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727AF2-2D7D-47BA-BAE0-F8F20942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14/02/2026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E431567-6AD4-4EF8-A35B-AB98D6317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101" y="2000329"/>
            <a:ext cx="3081867" cy="420793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9DA28DE-02F9-4B75-80FD-E2638B065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033" y="2000329"/>
            <a:ext cx="3004378" cy="418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41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FF5C1-D176-7C1F-0165-B7873B4F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Oportunidades em loja: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D8206E-CCA7-1D30-0625-311F4FA03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1. Saída de mercadoria pelo balcão de atacado. (Comunicar ao P2 e reconferir).</a:t>
            </a:r>
          </a:p>
          <a:p>
            <a:r>
              <a:rPr lang="pt-BR" dirty="0"/>
              <a:t>2. Entrada nas docas secas e frias. (Um prevenção por caminhão).</a:t>
            </a:r>
          </a:p>
          <a:p>
            <a:r>
              <a:rPr lang="pt-BR" dirty="0"/>
              <a:t>3. Paletes no estacionamento. (Controle com mais rigor).</a:t>
            </a:r>
          </a:p>
          <a:p>
            <a:r>
              <a:rPr lang="pt-BR" dirty="0"/>
              <a:t>4. Comunicação. (Sempre questionar).</a:t>
            </a:r>
          </a:p>
          <a:p>
            <a:r>
              <a:rPr lang="pt-BR" dirty="0"/>
              <a:t>5. Controle DDE e Shelf Life. (Usar Aplicativo / Site).</a:t>
            </a:r>
          </a:p>
          <a:p>
            <a:r>
              <a:rPr lang="pt-BR" dirty="0"/>
              <a:t>6. Organização e Seguir processos. (Essencial para o êxito).</a:t>
            </a:r>
          </a:p>
          <a:p>
            <a:r>
              <a:rPr lang="pt-BR" dirty="0"/>
              <a:t>7. O Básico funciona, dar o exemplo e questionar.</a:t>
            </a:r>
          </a:p>
        </p:txBody>
      </p:sp>
    </p:spTree>
    <p:extLst>
      <p:ext uri="{BB962C8B-B14F-4D97-AF65-F5344CB8AC3E}">
        <p14:creationId xmlns:p14="http://schemas.microsoft.com/office/powerpoint/2010/main" val="2769547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FF5C1-D176-7C1F-0165-B7873B4F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Oportunidades em loja: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D8206E-CCA7-1D30-0625-311F4FA03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8. Batida de validade através do aplicativo / site Stoxen.</a:t>
            </a:r>
          </a:p>
          <a:p>
            <a:r>
              <a:rPr lang="pt-BR" dirty="0"/>
              <a:t>9. Mais rigor ao inspecionar mercadorias que são em fardos ao vender no Balcão de atacado.</a:t>
            </a:r>
          </a:p>
          <a:p>
            <a:r>
              <a:rPr lang="pt-BR" dirty="0"/>
              <a:t>10. Controle rigoroso na venda de material de consumo, matéria prima na P3.</a:t>
            </a:r>
          </a:p>
          <a:p>
            <a:r>
              <a:rPr lang="pt-BR" dirty="0"/>
              <a:t>11. Reunião de piso com a reposição periodicamente.</a:t>
            </a:r>
          </a:p>
        </p:txBody>
      </p:sp>
    </p:spTree>
    <p:extLst>
      <p:ext uri="{BB962C8B-B14F-4D97-AF65-F5344CB8AC3E}">
        <p14:creationId xmlns:p14="http://schemas.microsoft.com/office/powerpoint/2010/main" val="2740161404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{158F58B4-41E3-4D24-ACA9-CB288446F6A7}tf56160789_win32</Template>
  <TotalTime>382</TotalTime>
  <Words>514</Words>
  <Application>Microsoft Office PowerPoint</Application>
  <PresentationFormat>Widescreen</PresentationFormat>
  <Paragraphs>108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Bookman Old Style</vt:lpstr>
      <vt:lpstr>Calibri</vt:lpstr>
      <vt:lpstr>Franklin Gothic Book</vt:lpstr>
      <vt:lpstr>Personalizado</vt:lpstr>
      <vt:lpstr>Relatório de Metas</vt:lpstr>
      <vt:lpstr>Principais Tópicos :</vt:lpstr>
      <vt:lpstr>Perda Setores:  Identificada x Não Identificada.</vt:lpstr>
      <vt:lpstr>Perda Identificada x Não Identificada.</vt:lpstr>
      <vt:lpstr>Perda Geral Identificada x Não Identificada.</vt:lpstr>
      <vt:lpstr>Perda Geral Vencimento.</vt:lpstr>
      <vt:lpstr>Meta de Venda x Venda Atual</vt:lpstr>
      <vt:lpstr>Baixo Giro / Sem Venda 30 – 60 dias</vt:lpstr>
      <vt:lpstr>Negativo da Loja</vt:lpstr>
      <vt:lpstr>Negativo da Loja</vt:lpstr>
      <vt:lpstr>Maiores Perdas ID – Mercadorias</vt:lpstr>
      <vt:lpstr>Maiores Perdas ID – Mercadorias</vt:lpstr>
      <vt:lpstr>Maiores Perdas ID – Mercadorias</vt:lpstr>
      <vt:lpstr>Maiores Perdas Vencimento – Mercadorias</vt:lpstr>
      <vt:lpstr>Maiores Entradas x Saídas</vt:lpstr>
      <vt:lpstr>Controle DDE Geral</vt:lpstr>
      <vt:lpstr>Tratamento de Perdas</vt:lpstr>
      <vt:lpstr>Tratamento de Perdas</vt:lpstr>
      <vt:lpstr>E-mails</vt:lpstr>
      <vt:lpstr>Oportunidades em loja:</vt:lpstr>
      <vt:lpstr>Oportunidades em loja: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 Metas</dc:title>
  <dc:creator>Gustavo Henrique</dc:creator>
  <cp:lastModifiedBy>Gustavo Henrique dos Santos Balbino Ribeiro</cp:lastModifiedBy>
  <cp:revision>92</cp:revision>
  <cp:lastPrinted>2026-02-07T11:06:30Z</cp:lastPrinted>
  <dcterms:created xsi:type="dcterms:W3CDTF">2026-02-06T23:41:23Z</dcterms:created>
  <dcterms:modified xsi:type="dcterms:W3CDTF">2026-02-14T23:39:20Z</dcterms:modified>
</cp:coreProperties>
</file>