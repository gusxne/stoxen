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36"/>
  </p:notesMasterIdLst>
  <p:handoutMasterIdLst>
    <p:handoutMasterId r:id="rId37"/>
  </p:handoutMasterIdLst>
  <p:sldIdLst>
    <p:sldId id="257" r:id="rId2"/>
    <p:sldId id="263" r:id="rId3"/>
    <p:sldId id="270" r:id="rId4"/>
    <p:sldId id="264" r:id="rId5"/>
    <p:sldId id="265" r:id="rId6"/>
    <p:sldId id="266" r:id="rId7"/>
    <p:sldId id="267" r:id="rId8"/>
    <p:sldId id="268" r:id="rId9"/>
    <p:sldId id="269" r:id="rId10"/>
    <p:sldId id="293" r:id="rId11"/>
    <p:sldId id="294" r:id="rId12"/>
    <p:sldId id="271" r:id="rId13"/>
    <p:sldId id="272" r:id="rId14"/>
    <p:sldId id="273" r:id="rId15"/>
    <p:sldId id="274" r:id="rId16"/>
    <p:sldId id="275" r:id="rId17"/>
    <p:sldId id="277" r:id="rId18"/>
    <p:sldId id="278" r:id="rId19"/>
    <p:sldId id="280" r:id="rId20"/>
    <p:sldId id="283" r:id="rId21"/>
    <p:sldId id="279" r:id="rId22"/>
    <p:sldId id="281" r:id="rId23"/>
    <p:sldId id="282" r:id="rId24"/>
    <p:sldId id="284" r:id="rId25"/>
    <p:sldId id="285" r:id="rId26"/>
    <p:sldId id="286" r:id="rId27"/>
    <p:sldId id="287" r:id="rId28"/>
    <p:sldId id="295" r:id="rId29"/>
    <p:sldId id="296" r:id="rId30"/>
    <p:sldId id="288" r:id="rId31"/>
    <p:sldId id="289" r:id="rId32"/>
    <p:sldId id="290" r:id="rId33"/>
    <p:sldId id="291" r:id="rId34"/>
    <p:sldId id="292" r:id="rId35"/>
  </p:sldIdLst>
  <p:sldSz cx="12192000" cy="6858000"/>
  <p:notesSz cx="6797675" cy="9872663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stavo Henrique dos Santos Balbino Ribeiro" initials="GHdSBR" lastIdx="1" clrIdx="0">
    <p:extLst>
      <p:ext uri="{19B8F6BF-5375-455C-9EA6-DF929625EA0E}">
        <p15:presenceInfo xmlns:p15="http://schemas.microsoft.com/office/powerpoint/2012/main" userId="S::gustavo.ribeiro@grupomateus.com::cb345948-baa5-43d0-b811-2f43fc3ec88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6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9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3E0910-793C-46A0-8623-CEAD4857882F}" type="datetime1">
              <a:rPr lang="pt-BR" smtClean="0"/>
              <a:t>14/04/2026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EE704A-765A-48C7-8594-25B15929F837}" type="datetime1">
              <a:rPr lang="pt-BR" smtClean="0"/>
              <a:t>14/04/2026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92B5B4-4D0A-4964-A1A3-B85B0EE00890}" type="datetime1">
              <a:rPr lang="pt-BR" smtClean="0"/>
              <a:t>14/04/2026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3252B5-F3E6-4058-A723-196087E9E541}" type="datetime1">
              <a:rPr lang="pt-BR" smtClean="0"/>
              <a:t>14/04/2026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251DFA-97D2-4C90-9100-D1173CC96C37}" type="datetime1">
              <a:rPr lang="pt-BR" smtClean="0"/>
              <a:t>14/04/2026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51B26C-F0DB-4889-B6A3-FE07E152272F}" type="datetime1">
              <a:rPr lang="pt-BR" smtClean="0"/>
              <a:t>14/04/2026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565EE-A4B5-4AB4-9432-D16ECAE9EF1F}" type="datetime1">
              <a:rPr lang="pt-BR" smtClean="0"/>
              <a:t>14/04/2026</a:t>
            </a:fld>
            <a:endParaRPr lang="en-US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470C2D-02C8-4A1B-A79F-498A53DD951F}" type="datetime1">
              <a:rPr lang="pt-BR" smtClean="0"/>
              <a:t>14/04/2026</a:t>
            </a:fld>
            <a:endParaRPr lang="en-US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94EF83-1835-4C7A-B4B2-F0B720F5AC0B}" type="datetime1">
              <a:rPr lang="pt-BR" smtClean="0"/>
              <a:t>14/04/2026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dirty="0"/>
              <a:t>Clique para editar os estilos de 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6F5D5688-1774-4625-9E74-88EA94DB2550}" type="datetime1">
              <a:rPr lang="pt-BR" smtClean="0"/>
              <a:t>14/04/2026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D5E4E1C-696A-4E82-B6DD-87ECA4CC925A}" type="datetime1">
              <a:rPr lang="pt-BR" smtClean="0"/>
              <a:t>14/04/2026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E1A5F9-C71D-4DE8-8BF4-9F6FC06A94B8}" type="datetime1">
              <a:rPr lang="pt-BR" smtClean="0"/>
              <a:t>14/04/2026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1DCD7D-5BFD-485D-AED5-B62EAACA4CB6}" type="datetime1">
              <a:rPr lang="pt-BR" smtClean="0"/>
              <a:t>14/04/2026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66BA6665-D630-4C43-9989-3D086DA68E5F}" type="datetime1">
              <a:rPr lang="pt-BR" smtClean="0"/>
              <a:t>14/04/2026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1932317"/>
            <a:ext cx="6253317" cy="2392795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sz="8000" dirty="0"/>
              <a:t>Manual de Aprendizado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PREVENÇÃO DE PERDAS 2026</a:t>
            </a: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B13D8CBB-3593-465D-848E-329814EEE9F4}"/>
              </a:ext>
            </a:extLst>
          </p:cNvPr>
          <p:cNvSpPr txBox="1">
            <a:spLocks/>
          </p:cNvSpPr>
          <p:nvPr/>
        </p:nvSpPr>
        <p:spPr>
          <a:xfrm>
            <a:off x="1125855" y="182939"/>
            <a:ext cx="4501415" cy="43497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Prevenção de Perdas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040938AE-9542-4BA2-9FAE-36E276D5D14E}"/>
              </a:ext>
            </a:extLst>
          </p:cNvPr>
          <p:cNvSpPr txBox="1">
            <a:spLocks/>
          </p:cNvSpPr>
          <p:nvPr/>
        </p:nvSpPr>
        <p:spPr>
          <a:xfrm>
            <a:off x="3376562" y="6363006"/>
            <a:ext cx="5445981" cy="329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 dirty="0">
                <a:solidFill>
                  <a:schemeClr val="bg1">
                    <a:lumMod val="50000"/>
                  </a:schemeClr>
                </a:solidFill>
              </a:rPr>
              <a:t>Desenvolvido por </a:t>
            </a:r>
            <a:r>
              <a:rPr lang="pt-BR" sz="1000" dirty="0">
                <a:solidFill>
                  <a:schemeClr val="bg1">
                    <a:lumMod val="50000"/>
                  </a:schemeClr>
                </a:solidFill>
              </a:rPr>
              <a:t>G</a:t>
            </a:r>
            <a:r>
              <a:rPr lang="pt-br" sz="1000" dirty="0">
                <a:solidFill>
                  <a:schemeClr val="bg1">
                    <a:lumMod val="50000"/>
                  </a:schemeClr>
                </a:solidFill>
              </a:rPr>
              <a:t>ustavo </a:t>
            </a:r>
            <a:r>
              <a:rPr lang="pt-BR" sz="1000" dirty="0">
                <a:solidFill>
                  <a:schemeClr val="bg1">
                    <a:lumMod val="50000"/>
                  </a:schemeClr>
                </a:solidFill>
              </a:rPr>
              <a:t>H</a:t>
            </a:r>
            <a:r>
              <a:rPr lang="pt-br" sz="1000" dirty="0">
                <a:solidFill>
                  <a:schemeClr val="bg1">
                    <a:lumMod val="50000"/>
                  </a:schemeClr>
                </a:solidFill>
              </a:rPr>
              <a:t>enrique | 278 </a:t>
            </a:r>
            <a:r>
              <a:rPr lang="pt-BR" sz="1000" dirty="0">
                <a:solidFill>
                  <a:schemeClr val="bg1">
                    <a:lumMod val="50000"/>
                  </a:schemeClr>
                </a:solidFill>
              </a:rPr>
              <a:t>–</a:t>
            </a:r>
            <a:r>
              <a:rPr lang="pt-br" sz="1000" dirty="0">
                <a:solidFill>
                  <a:schemeClr val="bg1">
                    <a:lumMod val="50000"/>
                  </a:schemeClr>
                </a:solidFill>
              </a:rPr>
              <a:t> mix juazeiro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F4AA1-9871-8E04-30F8-3EF84614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Tópicos 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917A8-9043-3FB1-9E16-72277D96C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6082453" cy="3760891"/>
          </a:xfrm>
        </p:spPr>
        <p:txBody>
          <a:bodyPr>
            <a:normAutofit/>
          </a:bodyPr>
          <a:lstStyle/>
          <a:p>
            <a:r>
              <a:rPr lang="pt-BR" dirty="0"/>
              <a:t>1. Postos do Prevenção de Perdas</a:t>
            </a:r>
          </a:p>
          <a:p>
            <a:r>
              <a:rPr lang="pt-BR" dirty="0"/>
              <a:t>2. Guia do Gmcore</a:t>
            </a:r>
          </a:p>
          <a:p>
            <a:r>
              <a:rPr lang="pt-BR" dirty="0"/>
              <a:t>3. Guia do Coletor</a:t>
            </a:r>
          </a:p>
          <a:p>
            <a:r>
              <a:rPr lang="pt-BR" dirty="0"/>
              <a:t>4. Guia do GmSuite</a:t>
            </a:r>
          </a:p>
          <a:p>
            <a:r>
              <a:rPr lang="pt-BR" dirty="0"/>
              <a:t>5. Guia Aplicativo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AF92BA1-8827-4F4C-B2C9-6DDC3AD062DA}"/>
              </a:ext>
            </a:extLst>
          </p:cNvPr>
          <p:cNvSpPr txBox="1">
            <a:spLocks/>
          </p:cNvSpPr>
          <p:nvPr/>
        </p:nvSpPr>
        <p:spPr>
          <a:xfrm>
            <a:off x="7179733" y="2108200"/>
            <a:ext cx="4919134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4498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F4AA1-9871-8E04-30F8-3EF84614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2345266"/>
            <a:ext cx="7848600" cy="2328334"/>
          </a:xfrm>
        </p:spPr>
        <p:txBody>
          <a:bodyPr>
            <a:normAutofit/>
          </a:bodyPr>
          <a:lstStyle/>
          <a:p>
            <a:r>
              <a:rPr lang="pt-BR" sz="6000" dirty="0"/>
              <a:t>Postos do Prevenção de Perdas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AF92BA1-8827-4F4C-B2C9-6DDC3AD062DA}"/>
              </a:ext>
            </a:extLst>
          </p:cNvPr>
          <p:cNvSpPr txBox="1">
            <a:spLocks/>
          </p:cNvSpPr>
          <p:nvPr/>
        </p:nvSpPr>
        <p:spPr>
          <a:xfrm>
            <a:off x="7179733" y="2108200"/>
            <a:ext cx="4919134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8960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00164-9C6B-49E3-8875-ACAFE09BE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Posto P1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colaborar que ficará no posto P1 será o responsável por monitorar com prioridade todas as atividades fora da loja, trabalhando em conjunto com o </a:t>
            </a:r>
            <a:r>
              <a:rPr lang="pt-BR" b="1" dirty="0"/>
              <a:t>Bravo</a:t>
            </a:r>
            <a:r>
              <a:rPr lang="pt-BR" dirty="0"/>
              <a:t> (Segurança privada) e a </a:t>
            </a:r>
            <a:r>
              <a:rPr lang="pt-BR" b="1" dirty="0"/>
              <a:t>Central</a:t>
            </a:r>
            <a:r>
              <a:rPr lang="pt-BR" dirty="0"/>
              <a:t> (Prevenção CFTV).</a:t>
            </a:r>
          </a:p>
          <a:p>
            <a:pPr algn="just"/>
            <a:r>
              <a:rPr lang="pt-BR" dirty="0"/>
              <a:t>O colaborador auxiliará os clientes que adentrarão à loja para fazer compras, desde responder perguntas e controle do guarda-volumes.</a:t>
            </a:r>
          </a:p>
          <a:p>
            <a:pPr algn="just"/>
            <a:r>
              <a:rPr lang="pt-BR" dirty="0"/>
              <a:t>Prioridade do posto P1 é informar à central algum possível </a:t>
            </a:r>
            <a:r>
              <a:rPr lang="pt-BR" b="1" dirty="0"/>
              <a:t>QRU </a:t>
            </a:r>
            <a:r>
              <a:rPr lang="pt-BR" dirty="0"/>
              <a:t>(Suspeito).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D9631D6-9FF0-41CE-AC78-EDF70A313BE2}"/>
              </a:ext>
            </a:extLst>
          </p:cNvPr>
          <p:cNvSpPr txBox="1">
            <a:spLocks/>
          </p:cNvSpPr>
          <p:nvPr/>
        </p:nvSpPr>
        <p:spPr>
          <a:xfrm>
            <a:off x="1097280" y="1504926"/>
            <a:ext cx="2485879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Entrada de clientes</a:t>
            </a:r>
          </a:p>
        </p:txBody>
      </p:sp>
    </p:spTree>
    <p:extLst>
      <p:ext uri="{BB962C8B-B14F-4D97-AF65-F5344CB8AC3E}">
        <p14:creationId xmlns:p14="http://schemas.microsoft.com/office/powerpoint/2010/main" val="1640094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colaborar que ficará no posto P2 será o responsável por monitorar com prioridade todas as atividades dentro da loja, sendo clientes, operador de caixa, fazendo com que os processos sejam realizados da forma correta. Trabalhando em conjunto com a </a:t>
            </a:r>
            <a:r>
              <a:rPr lang="pt-BR" b="1" dirty="0"/>
              <a:t>Central</a:t>
            </a:r>
            <a:r>
              <a:rPr lang="pt-BR" dirty="0"/>
              <a:t> (Prevenção CFTV).</a:t>
            </a:r>
          </a:p>
          <a:p>
            <a:pPr algn="just"/>
            <a:r>
              <a:rPr lang="pt-BR" dirty="0"/>
              <a:t>Prioridade do posto P2 é informar à central algum possível </a:t>
            </a:r>
            <a:r>
              <a:rPr lang="pt-BR" b="1" dirty="0"/>
              <a:t>QRU </a:t>
            </a:r>
            <a:r>
              <a:rPr lang="pt-BR" dirty="0"/>
              <a:t>(Suspeito) que está tentando furtar algo. Porém deve-se agir com muita cautela, descrição e sem constranger o cliente. </a:t>
            </a:r>
          </a:p>
          <a:p>
            <a:pPr algn="just"/>
            <a:endParaRPr lang="pt-BR" dirty="0"/>
          </a:p>
          <a:p>
            <a:pPr algn="just"/>
            <a:r>
              <a:rPr lang="pt-BR" sz="1800" dirty="0"/>
              <a:t> </a:t>
            </a:r>
            <a:r>
              <a:rPr lang="pt-BR" sz="1200" dirty="0"/>
              <a:t>| Recomendação: Em caso de dúvidas, pedir ajuda ao Central | Sucessor | Gerente.</a:t>
            </a:r>
            <a:endParaRPr lang="pt-BR" sz="18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Posto P2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80" y="1504926"/>
            <a:ext cx="2485879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Saída de clientes</a:t>
            </a:r>
          </a:p>
        </p:txBody>
      </p:sp>
    </p:spTree>
    <p:extLst>
      <p:ext uri="{BB962C8B-B14F-4D97-AF65-F5344CB8AC3E}">
        <p14:creationId xmlns:p14="http://schemas.microsoft.com/office/powerpoint/2010/main" val="388509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colaborar que ficará no posto P3 será o responsável por monitorar com prioridade todas as atividades dentro da área de fluxo, onde os colaboradores e promotores passam, fazendo com que os processos sejam realizados da forma correta. Trabalhando em conjunto com a </a:t>
            </a:r>
            <a:r>
              <a:rPr lang="pt-BR" b="1" dirty="0"/>
              <a:t>Central</a:t>
            </a:r>
            <a:r>
              <a:rPr lang="pt-BR" dirty="0"/>
              <a:t> (Prevenção CFTV).</a:t>
            </a:r>
          </a:p>
          <a:p>
            <a:pPr algn="just"/>
            <a:endParaRPr lang="pt-BR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1. Registrar e monitorar as compras dos setores.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2. Conferir bolsas, com a permissão do colaborador ou promotor.</a:t>
            </a:r>
          </a:p>
          <a:p>
            <a:pPr algn="just"/>
            <a:r>
              <a:rPr lang="pt-BR" sz="1800" dirty="0"/>
              <a:t> </a:t>
            </a:r>
            <a:r>
              <a:rPr lang="pt-BR" sz="1200" dirty="0"/>
              <a:t>| Recomendação: Em caso de dúvidas, pedir ajuda ao Central | Sucessor | Gerente.</a:t>
            </a:r>
            <a:endParaRPr lang="pt-BR" sz="18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Posto P3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Entrada e Saída de colaboradores</a:t>
            </a:r>
          </a:p>
        </p:txBody>
      </p:sp>
    </p:spTree>
    <p:extLst>
      <p:ext uri="{BB962C8B-B14F-4D97-AF65-F5344CB8AC3E}">
        <p14:creationId xmlns:p14="http://schemas.microsoft.com/office/powerpoint/2010/main" val="2467836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colaborar que ficará no posto P4 será o responsável por monitorar com prioridade todas as atividades dentro da área de fluxo, onde as mercadorias ficam armazenadas e movimentadas, fazendo com que os processos sejam realizados da forma correta. Trabalhando em conjunto com a </a:t>
            </a:r>
            <a:r>
              <a:rPr lang="pt-BR" b="1" dirty="0"/>
              <a:t>Central</a:t>
            </a:r>
            <a:r>
              <a:rPr lang="pt-BR" dirty="0"/>
              <a:t> (Prevenção CFTV) e </a:t>
            </a:r>
            <a:r>
              <a:rPr lang="pt-BR" b="1" dirty="0"/>
              <a:t>RM</a:t>
            </a:r>
            <a:r>
              <a:rPr lang="pt-BR" dirty="0"/>
              <a:t> (Recebimento).</a:t>
            </a:r>
          </a:p>
          <a:p>
            <a:pPr algn="just"/>
            <a:endParaRPr lang="pt-BR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1. Registrar a entrada de notas no caderno.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2. Conferir DDE no ato da entrada através do aplicativo.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3. Acompanhar descartes, conferência de mercadorias.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4. Manter a ordem no local.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pt-BR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| Recomendação: Em caso de dúvidas, pedir ajuda ao Central | Sucessor | Gerente.</a:t>
            </a:r>
          </a:p>
          <a:p>
            <a:pPr algn="just"/>
            <a:endParaRPr lang="pt-BR" sz="1200" dirty="0"/>
          </a:p>
          <a:p>
            <a:pPr algn="just"/>
            <a:endParaRPr lang="pt-BR" sz="18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Posto P4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Entrada de Mercadorias</a:t>
            </a:r>
          </a:p>
        </p:txBody>
      </p:sp>
    </p:spTree>
    <p:extLst>
      <p:ext uri="{BB962C8B-B14F-4D97-AF65-F5344CB8AC3E}">
        <p14:creationId xmlns:p14="http://schemas.microsoft.com/office/powerpoint/2010/main" val="252256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colaborar que ficará no posto P5 será o responsável por monitorar com prioridade todas as atividades dentro e fora da loja, monitorar as mercadorias armazenadas e movimentadas, o fluxo de clientes e colaboradores, como também designar os colaboradores da prevenção para os postos. Trabalhando em conjunto com todos.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sz="1200" dirty="0"/>
              <a:t>| Primordial: Exige muito controle e atenção.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Posto P5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Central - CFTV</a:t>
            </a:r>
          </a:p>
        </p:txBody>
      </p:sp>
    </p:spTree>
    <p:extLst>
      <p:ext uri="{BB962C8B-B14F-4D97-AF65-F5344CB8AC3E}">
        <p14:creationId xmlns:p14="http://schemas.microsoft.com/office/powerpoint/2010/main" val="3519872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colaborar que ficará no posto P6 será o responsável por monitorar com prioridade todas as atividades dentro da loja, monitorar as mercadorias armazenadas e movimentadas, o fluxo de clientes e colaboradores, comunicando a </a:t>
            </a:r>
            <a:r>
              <a:rPr lang="pt-BR" b="1" dirty="0"/>
              <a:t>Central</a:t>
            </a:r>
            <a:r>
              <a:rPr lang="pt-BR" dirty="0"/>
              <a:t> (Prevenção CFTV) possíveis QRU’s. Comprometendo-se com que os processos e diretrizes da empresa sejam seguidos.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| Recomendação: Em caso de dúvidas, pedir ajuda ao Central | Sucessor | Gerente.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Posto P6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Ronda em loja</a:t>
            </a:r>
          </a:p>
        </p:txBody>
      </p:sp>
    </p:spTree>
    <p:extLst>
      <p:ext uri="{BB962C8B-B14F-4D97-AF65-F5344CB8AC3E}">
        <p14:creationId xmlns:p14="http://schemas.microsoft.com/office/powerpoint/2010/main" val="3209373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FE055-D47A-F7EB-2BCA-2E5E49339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46E4B8-9213-6BBB-A18A-02CA31BAC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colaborar que ficará no posto Balcão de Atacado será o responsável por monitorar com prioridade todas as atividades que acontecem no perímetro, monitorar e confirmar as mercadorias que são movimentadas para fora da loja, o fluxo de clientes e colaboradores, comunicando a </a:t>
            </a:r>
            <a:r>
              <a:rPr lang="pt-BR" b="1" dirty="0"/>
              <a:t>Central</a:t>
            </a:r>
            <a:r>
              <a:rPr lang="pt-BR" dirty="0"/>
              <a:t> (Prevenção CFTV) possíveis QRU’s. Comprometendo-se com que os processos e diretrizes da empresa sejam seguidos.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| Recomendação: Em caso de dúvidas, pedir ajuda ao Central | Sucessor | Gerente.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6A0F24E-05A1-B0C0-9AEB-404D5C39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Posto Balcão de Atacado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314755E-A64A-3971-7908-0CA69C499023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Balcão de Atacado</a:t>
            </a:r>
          </a:p>
        </p:txBody>
      </p:sp>
    </p:spTree>
    <p:extLst>
      <p:ext uri="{BB962C8B-B14F-4D97-AF65-F5344CB8AC3E}">
        <p14:creationId xmlns:p14="http://schemas.microsoft.com/office/powerpoint/2010/main" val="3468503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7AEE1-ED72-985F-D47C-E0214BABA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5393DE-D218-B29F-4515-5134E0265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colaborar que ficará no posto de Avarias será o responsável por fazê-las, monitorar e confirmar a qualidade das mercadorias que estão prestes a serem descartadas, Pois a prioridade é evitar que bons produtos sejam descartados, analisar e questionar o porquê deles estarem lá. Não apenas contar ou bipar os mesmos. Assim, comprometendo-se com que os processos e diretrizes da empresa sejam seguidos.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| Recomendação: Em caso de dúvidas, pedir ajuda ao Central | Sucessor | Gerente.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063CB1C-3453-250A-49FA-4355BD5B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Posto de Avarias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B145935-135F-FE3A-6141-C095D39500C2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Avarias</a:t>
            </a:r>
          </a:p>
        </p:txBody>
      </p:sp>
    </p:spTree>
    <p:extLst>
      <p:ext uri="{BB962C8B-B14F-4D97-AF65-F5344CB8AC3E}">
        <p14:creationId xmlns:p14="http://schemas.microsoft.com/office/powerpoint/2010/main" val="2089573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F4AA1-9871-8E04-30F8-3EF84614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3048845"/>
            <a:ext cx="7848600" cy="939800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Guia do GMcore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AF92BA1-8827-4F4C-B2C9-6DDC3AD062DA}"/>
              </a:ext>
            </a:extLst>
          </p:cNvPr>
          <p:cNvSpPr txBox="1">
            <a:spLocks/>
          </p:cNvSpPr>
          <p:nvPr/>
        </p:nvSpPr>
        <p:spPr>
          <a:xfrm>
            <a:off x="7179733" y="2108200"/>
            <a:ext cx="4919134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9905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8480" y="2329182"/>
            <a:ext cx="4267200" cy="748452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dirty="0"/>
              <a:t>Esta rotina serve para criar uma nova RIP, para a compra de mercadorias para os setores.</a:t>
            </a:r>
            <a:endParaRPr lang="pt-BR" sz="12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Rotina 414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Movimentação de estoque - Novo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9D5885C-6423-4D7E-A6C7-4E1EBE60F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" y="2252982"/>
            <a:ext cx="5705813" cy="3429000"/>
          </a:xfrm>
          <a:prstGeom prst="rect">
            <a:avLst/>
          </a:prstGeom>
        </p:spPr>
      </p:pic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D73ECE9-7785-44D0-8316-4A91D8A87E8C}"/>
              </a:ext>
            </a:extLst>
          </p:cNvPr>
          <p:cNvSpPr txBox="1">
            <a:spLocks/>
          </p:cNvSpPr>
          <p:nvPr/>
        </p:nvSpPr>
        <p:spPr>
          <a:xfrm>
            <a:off x="6888480" y="2947248"/>
            <a:ext cx="4267200" cy="273473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Filial: 278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2. Movimento: Grupo Mateus &gt; Armazém / Supermercados &gt; Centro de custos &gt; Operação &gt; Setor &gt; Gerência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3. Plano de contas: Selecionar de acordo com as mercadorias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4. Cliente: Basta apertar tecla ENTER.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5. Observação: </a:t>
            </a:r>
            <a:r>
              <a:rPr lang="it-IT" sz="1200" dirty="0"/>
              <a:t>RIP ELETRONICA </a:t>
            </a:r>
            <a:r>
              <a:rPr lang="it-IT" sz="1200" b="1" dirty="0"/>
              <a:t>SETOR</a:t>
            </a:r>
            <a:r>
              <a:rPr lang="it-IT" sz="1200" dirty="0"/>
              <a:t> + </a:t>
            </a:r>
            <a:r>
              <a:rPr lang="it-IT" sz="1200" b="1" dirty="0"/>
              <a:t>PLANO DE CONTAS + DATA ATUAL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it-IT" sz="1200" b="1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| Exemplo: RIP ELETRONICA REST. INDUSTRIAL MATERIA PRIMA 27 02 2026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554497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8480" y="2329182"/>
            <a:ext cx="4267200" cy="748452"/>
          </a:xfrm>
        </p:spPr>
        <p:txBody>
          <a:bodyPr>
            <a:normAutofit/>
          </a:bodyPr>
          <a:lstStyle/>
          <a:p>
            <a:pPr algn="just"/>
            <a:r>
              <a:rPr lang="pt-BR" sz="1600" dirty="0"/>
              <a:t>Esta rotina serve para analisar as RIP´s que foram criadas pelos setores.</a:t>
            </a:r>
            <a:endParaRPr lang="pt-BR" sz="105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Rotina 414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Movimentação de estoque - Digitados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D73ECE9-7785-44D0-8316-4A91D8A87E8C}"/>
              </a:ext>
            </a:extLst>
          </p:cNvPr>
          <p:cNvSpPr txBox="1">
            <a:spLocks/>
          </p:cNvSpPr>
          <p:nvPr/>
        </p:nvSpPr>
        <p:spPr>
          <a:xfrm>
            <a:off x="6888480" y="2947248"/>
            <a:ext cx="4267200" cy="273473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Filial: 278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2. Data: Seleciona quais datas serão analisadas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3. Tipo de movimento: 14 (Compras feitas pelos setores), 29 (Perdas dos setores), 240 (Ação comercial).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4. Clicar no botão atualizar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it-IT" sz="12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it-IT" sz="12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| Obs.: Somente o gerente tem acesso ao movimento 240 da rotina 414.</a:t>
            </a:r>
            <a:endParaRPr lang="pt-BR" sz="1200" dirty="0"/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886032-5200-4CB1-AB28-26572A426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" y="2002428"/>
            <a:ext cx="5587692" cy="379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25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Rotina 414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Movimentação de estoque - Digitados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D73ECE9-7785-44D0-8316-4A91D8A87E8C}"/>
              </a:ext>
            </a:extLst>
          </p:cNvPr>
          <p:cNvSpPr txBox="1">
            <a:spLocks/>
          </p:cNvSpPr>
          <p:nvPr/>
        </p:nvSpPr>
        <p:spPr>
          <a:xfrm>
            <a:off x="1029547" y="5547608"/>
            <a:ext cx="4267200" cy="651029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1. Ao atualizar, clicar no + para mostrar todas as RIP’s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2. Clicar com o botão direito do mouse sobre a RIP e depois em Detalhes do pedido, caso queira ver os itens.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it-IT" sz="1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D9A96DE-BD0D-4DEA-A26E-57BDB93BB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658" y="2060331"/>
            <a:ext cx="6094328" cy="2388659"/>
          </a:xfrm>
          <a:prstGeom prst="rect">
            <a:avLst/>
          </a:prstGeom>
        </p:spPr>
      </p:pic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1BC6CA38-9D24-480C-8F19-80BFE7DDC4D6}"/>
              </a:ext>
            </a:extLst>
          </p:cNvPr>
          <p:cNvSpPr txBox="1">
            <a:spLocks/>
          </p:cNvSpPr>
          <p:nvPr/>
        </p:nvSpPr>
        <p:spPr>
          <a:xfrm>
            <a:off x="6895255" y="5547607"/>
            <a:ext cx="4267200" cy="651029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1. Selecionar a RIP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2. Clicar em Imprimir Itens &gt; Impirmir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3. Selecione a impressora &gt; Confirmar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2F1BE3C7-268D-4B5A-A500-37B33565EB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658" y="4710812"/>
            <a:ext cx="6598920" cy="642262"/>
          </a:xfrm>
          <a:prstGeom prst="rect">
            <a:avLst/>
          </a:prstGeom>
        </p:spPr>
      </p:pic>
      <p:sp>
        <p:nvSpPr>
          <p:cNvPr id="16" name="Espaço Reservado para Conteúdo 2">
            <a:extLst>
              <a:ext uri="{FF2B5EF4-FFF2-40B4-BE49-F238E27FC236}">
                <a16:creationId xmlns:a16="http://schemas.microsoft.com/office/drawing/2014/main" id="{A7694A22-D7DB-44C7-8F7B-72E247A8BB61}"/>
              </a:ext>
            </a:extLst>
          </p:cNvPr>
          <p:cNvSpPr txBox="1">
            <a:spLocks/>
          </p:cNvSpPr>
          <p:nvPr/>
        </p:nvSpPr>
        <p:spPr>
          <a:xfrm>
            <a:off x="789093" y="2060331"/>
            <a:ext cx="308186" cy="2891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1.</a:t>
            </a:r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7B161C11-7CE8-463F-B749-88732EB2505F}"/>
              </a:ext>
            </a:extLst>
          </p:cNvPr>
          <p:cNvSpPr txBox="1">
            <a:spLocks/>
          </p:cNvSpPr>
          <p:nvPr/>
        </p:nvSpPr>
        <p:spPr>
          <a:xfrm>
            <a:off x="875454" y="4737739"/>
            <a:ext cx="308186" cy="2891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2.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E05A979A-B0BF-46F7-9DC5-C8F185C17383}"/>
              </a:ext>
            </a:extLst>
          </p:cNvPr>
          <p:cNvSpPr txBox="1">
            <a:spLocks/>
          </p:cNvSpPr>
          <p:nvPr/>
        </p:nvSpPr>
        <p:spPr>
          <a:xfrm>
            <a:off x="7650485" y="2002618"/>
            <a:ext cx="308186" cy="2891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3.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42D26B45-D1CA-4115-B177-87298EC044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671" y="2060330"/>
            <a:ext cx="3573940" cy="2388659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B2832B3A-7825-40EB-9E93-C5B67E079826}"/>
              </a:ext>
            </a:extLst>
          </p:cNvPr>
          <p:cNvSpPr txBox="1"/>
          <p:nvPr/>
        </p:nvSpPr>
        <p:spPr>
          <a:xfrm>
            <a:off x="7958671" y="4506701"/>
            <a:ext cx="36491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100" dirty="0">
                <a:solidFill>
                  <a:schemeClr val="bg1">
                    <a:lumMod val="50000"/>
                  </a:schemeClr>
                </a:solidFill>
              </a:rPr>
              <a:t>| </a:t>
            </a:r>
            <a:r>
              <a:rPr lang="pt-BR" sz="1100" dirty="0">
                <a:solidFill>
                  <a:schemeClr val="bg1">
                    <a:lumMod val="50000"/>
                  </a:schemeClr>
                </a:solidFill>
              </a:rPr>
              <a:t>Sm278_cc1: Balcão Fiscal</a:t>
            </a:r>
            <a:endParaRPr lang="it-IT" sz="1100" dirty="0">
              <a:solidFill>
                <a:schemeClr val="bg1">
                  <a:lumMod val="50000"/>
                </a:schemeClr>
              </a:solidFill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100" dirty="0">
                <a:solidFill>
                  <a:schemeClr val="bg1">
                    <a:lumMod val="50000"/>
                  </a:schemeClr>
                </a:solidFill>
              </a:rPr>
              <a:t>| Sm278_Fat: RM – Recebimento</a:t>
            </a:r>
            <a:endParaRPr lang="pt-BR" sz="1100" dirty="0">
              <a:solidFill>
                <a:schemeClr val="bg1">
                  <a:lumMod val="50000"/>
                </a:schemeClr>
              </a:solidFill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100" dirty="0">
                <a:solidFill>
                  <a:schemeClr val="bg1">
                    <a:lumMod val="50000"/>
                  </a:schemeClr>
                </a:solidFill>
              </a:rPr>
              <a:t>| Sm278_ata: Balcão de Atacado</a:t>
            </a:r>
            <a:endParaRPr lang="it-IT" sz="11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897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8480" y="2329182"/>
            <a:ext cx="4267200" cy="748452"/>
          </a:xfrm>
        </p:spPr>
        <p:txBody>
          <a:bodyPr>
            <a:normAutofit/>
          </a:bodyPr>
          <a:lstStyle/>
          <a:p>
            <a:pPr algn="just"/>
            <a:r>
              <a:rPr lang="pt-BR" sz="1600" dirty="0"/>
              <a:t>Esta rotina serve para analisar a movimentação da mercadoria pesquisada.</a:t>
            </a:r>
            <a:endParaRPr lang="pt-BR" sz="105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Rotina 418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Pesquisa de produtos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D73ECE9-7785-44D0-8316-4A91D8A87E8C}"/>
              </a:ext>
            </a:extLst>
          </p:cNvPr>
          <p:cNvSpPr txBox="1">
            <a:spLocks/>
          </p:cNvSpPr>
          <p:nvPr/>
        </p:nvSpPr>
        <p:spPr>
          <a:xfrm>
            <a:off x="6888480" y="2947248"/>
            <a:ext cx="4267200" cy="273473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Pesquisa: Ver informações da mercadoria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2. Consullta: Consultar os produtos que tem em loja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3. Kardex: Consultar a movimentação da mercadoria (Possível ver os movimentos (8, 27, 29, 84, 85, 159, 205, 206,  240, 339, 340).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it-IT" sz="12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it-IT" sz="12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| Obs.: Filial sempre será o código e em Produto sempre será o código reduzido, barras ou descrição do produto.</a:t>
            </a:r>
            <a:endParaRPr lang="pt-BR" sz="1200" dirty="0"/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sz="1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C1342ED-A81C-471C-9A18-E9B0FE77E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" y="2329181"/>
            <a:ext cx="5724173" cy="335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095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0412" y="2672804"/>
            <a:ext cx="2439265" cy="64656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1400" dirty="0"/>
              <a:t>Esta rotina serve para analisar o estoque geral  da loja ou setor.</a:t>
            </a:r>
            <a:endParaRPr lang="pt-BR" sz="10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Rotina 422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Relatório de estoque – Estoque dinâmico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D73ECE9-7785-44D0-8316-4A91D8A87E8C}"/>
              </a:ext>
            </a:extLst>
          </p:cNvPr>
          <p:cNvSpPr txBox="1">
            <a:spLocks/>
          </p:cNvSpPr>
          <p:nvPr/>
        </p:nvSpPr>
        <p:spPr>
          <a:xfrm>
            <a:off x="1097279" y="4812714"/>
            <a:ext cx="4267200" cy="152315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Seleciona a filial &gt; Parâmetro de Data &gt; Pesquisar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99B1CC6-A369-4A38-B411-BF0CA4E80D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4" b="5959"/>
          <a:stretch/>
        </p:blipFill>
        <p:spPr>
          <a:xfrm>
            <a:off x="1097279" y="2143113"/>
            <a:ext cx="5813195" cy="257177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16D836A-261A-4602-BC79-AD58D136FC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144" y="2490327"/>
            <a:ext cx="2267393" cy="3064301"/>
          </a:xfrm>
          <a:prstGeom prst="rect">
            <a:avLst/>
          </a:prstGeom>
        </p:spPr>
      </p:pic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024400DD-0BA7-458A-AB82-E98738B86973}"/>
              </a:ext>
            </a:extLst>
          </p:cNvPr>
          <p:cNvSpPr txBox="1">
            <a:spLocks/>
          </p:cNvSpPr>
          <p:nvPr/>
        </p:nvSpPr>
        <p:spPr>
          <a:xfrm>
            <a:off x="6910474" y="5689302"/>
            <a:ext cx="4919876" cy="646564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Setor &gt; Comprador &gt; Fornecedor &gt; Produto | Qtde. Est. Total &gt; Cust. Médio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it-IT" sz="12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| Obs.: Pode filtar de acordo com a situação</a:t>
            </a:r>
          </a:p>
        </p:txBody>
      </p:sp>
    </p:spTree>
    <p:extLst>
      <p:ext uri="{BB962C8B-B14F-4D97-AF65-F5344CB8AC3E}">
        <p14:creationId xmlns:p14="http://schemas.microsoft.com/office/powerpoint/2010/main" val="991217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5516" y="2570916"/>
            <a:ext cx="2784161" cy="748452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1400" dirty="0"/>
              <a:t>Esta rotina serve para analisar o estoque geral  da loja ou setor. Mercadoria com estoque zerado, negativo ou positivo.</a:t>
            </a:r>
            <a:endParaRPr lang="pt-BR" sz="10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Rotina 422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Relatório de estoque – Estoque Inventário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D73ECE9-7785-44D0-8316-4A91D8A87E8C}"/>
              </a:ext>
            </a:extLst>
          </p:cNvPr>
          <p:cNvSpPr txBox="1">
            <a:spLocks/>
          </p:cNvSpPr>
          <p:nvPr/>
        </p:nvSpPr>
        <p:spPr>
          <a:xfrm>
            <a:off x="1097279" y="4812714"/>
            <a:ext cx="4267200" cy="152315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Seleciona a filial &gt; Parâmetro de Data &gt; Pesquisar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024400DD-0BA7-458A-AB82-E98738B86973}"/>
              </a:ext>
            </a:extLst>
          </p:cNvPr>
          <p:cNvSpPr txBox="1">
            <a:spLocks/>
          </p:cNvSpPr>
          <p:nvPr/>
        </p:nvSpPr>
        <p:spPr>
          <a:xfrm>
            <a:off x="6434667" y="4835042"/>
            <a:ext cx="4919876" cy="646564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Setor &gt; Departamento &gt; Seção &gt; Produto | Barras &gt; Qtde. Estoque Total &gt; Cust. Médio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it-IT" sz="12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| Obs.: Pode filtrar de acordo com a situação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0E6784-2A67-4950-9B06-68579AF0E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7" y="2421137"/>
            <a:ext cx="2590849" cy="201572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F5B5D2D-8586-4358-9D55-F1D84614D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584" y="2248031"/>
            <a:ext cx="5135073" cy="211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72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7483" y="2328334"/>
            <a:ext cx="3569194" cy="929391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Esta rotina serve para analisar os inventário feitos.</a:t>
            </a:r>
            <a:endParaRPr lang="pt-BR" sz="12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Rotina 620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Relatório crítica final - Crítica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D73ECE9-7785-44D0-8316-4A91D8A87E8C}"/>
              </a:ext>
            </a:extLst>
          </p:cNvPr>
          <p:cNvSpPr txBox="1">
            <a:spLocks/>
          </p:cNvSpPr>
          <p:nvPr/>
        </p:nvSpPr>
        <p:spPr>
          <a:xfrm>
            <a:off x="7237483" y="3429000"/>
            <a:ext cx="4267200" cy="72720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Seleciona a filial &gt; Período &gt; Atualizar &gt; Selecione o inventário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sz="12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400A729-25DA-49BD-BE91-5C67E1F25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377" y="2319867"/>
            <a:ext cx="4813623" cy="304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275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83" y="5121737"/>
            <a:ext cx="3569194" cy="929391"/>
          </a:xfrm>
        </p:spPr>
        <p:txBody>
          <a:bodyPr>
            <a:normAutofit/>
          </a:bodyPr>
          <a:lstStyle/>
          <a:p>
            <a:pPr algn="just"/>
            <a:r>
              <a:rPr lang="pt-BR" sz="1600" dirty="0"/>
              <a:t>Esta rotina serve para controlar entrada e saída de promotores, como também o controle de armários.</a:t>
            </a:r>
            <a:endParaRPr lang="pt-BR" sz="9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Rotina 617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Controle de Chave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D73ECE9-7785-44D0-8316-4A91D8A87E8C}"/>
              </a:ext>
            </a:extLst>
          </p:cNvPr>
          <p:cNvSpPr txBox="1">
            <a:spLocks/>
          </p:cNvSpPr>
          <p:nvPr/>
        </p:nvSpPr>
        <p:spPr>
          <a:xfrm>
            <a:off x="6280750" y="5059487"/>
            <a:ext cx="4267200" cy="109577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Controle de chave &gt; Coleta: Serve para os armários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2. Controle de chave &gt; Relatório: Serve para ver as informações        dos armários (Livres, ocupados ou em manutenção)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3. Registro Entrada / Saída Promotor: Controle de fluxo de promotores</a:t>
            </a:r>
            <a:endParaRPr lang="it-IT" sz="12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72B3412-5241-4078-ACC7-27C8A5E3A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154" y="2188906"/>
            <a:ext cx="8363692" cy="266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42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4605" y="2528809"/>
            <a:ext cx="2784161" cy="748452"/>
          </a:xfrm>
        </p:spPr>
        <p:txBody>
          <a:bodyPr>
            <a:normAutofit/>
          </a:bodyPr>
          <a:lstStyle/>
          <a:p>
            <a:pPr algn="just"/>
            <a:r>
              <a:rPr lang="pt-BR" sz="1200" dirty="0"/>
              <a:t>Esta rotina serve para analisar os movimentos do estoque geral  da loja ou setor.</a:t>
            </a:r>
            <a:endParaRPr lang="pt-BR" sz="9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Rotina 999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Perdas e acertos - Perdas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D73ECE9-7785-44D0-8316-4A91D8A87E8C}"/>
              </a:ext>
            </a:extLst>
          </p:cNvPr>
          <p:cNvSpPr txBox="1">
            <a:spLocks/>
          </p:cNvSpPr>
          <p:nvPr/>
        </p:nvSpPr>
        <p:spPr>
          <a:xfrm>
            <a:off x="1097279" y="4812714"/>
            <a:ext cx="4267200" cy="152315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Seleciona a filial &gt; Parâmetro de Data &gt; Pesquisar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sz="1200" dirty="0"/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024400DD-0BA7-458A-AB82-E98738B86973}"/>
              </a:ext>
            </a:extLst>
          </p:cNvPr>
          <p:cNvSpPr txBox="1">
            <a:spLocks/>
          </p:cNvSpPr>
          <p:nvPr/>
        </p:nvSpPr>
        <p:spPr>
          <a:xfrm>
            <a:off x="6434667" y="5309165"/>
            <a:ext cx="4919876" cy="646564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Setor &gt; Departamento &gt; Seção &gt; Produto | Barras &gt; Qtde. Estoque Total &gt; Cust. Médio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it-IT" sz="12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dirty="0"/>
              <a:t>| Obs.: Pode filtrar de acordo com a situação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534408-DFE4-4134-B2FA-D5C8F0B51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" y="2067176"/>
            <a:ext cx="4629890" cy="242017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DAA20C4-7893-4F5C-BFAF-5338D5EF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7" y="2235728"/>
            <a:ext cx="2074334" cy="3010445"/>
          </a:xfrm>
          <a:prstGeom prst="rect">
            <a:avLst/>
          </a:prstGeom>
        </p:spPr>
      </p:pic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6EE2916E-4E14-4731-8FBB-8467C8700018}"/>
              </a:ext>
            </a:extLst>
          </p:cNvPr>
          <p:cNvSpPr txBox="1">
            <a:spLocks/>
          </p:cNvSpPr>
          <p:nvPr/>
        </p:nvSpPr>
        <p:spPr>
          <a:xfrm>
            <a:off x="8894604" y="3332447"/>
            <a:ext cx="2784161" cy="17599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900" dirty="0"/>
              <a:t>88 - ENTRADA POR ACERTO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900" dirty="0"/>
              <a:t>27 - SAIDA PERDA TECNICA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900" dirty="0"/>
              <a:t>29 - PERDA IDENTIFICADA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900" b="1" dirty="0"/>
              <a:t>84 - ENTRADA INVENTARIO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900" b="1" dirty="0"/>
              <a:t>85 - SAIDA INVENTARIO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900" dirty="0"/>
              <a:t>159 - SAIDA ITENS CESTA BASICA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900" dirty="0"/>
              <a:t>205 - ENTRADA ACERTO NEGATIVO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900" dirty="0"/>
              <a:t>206 - ENTRADA POR ACERTO ERRO OPERACIONAL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900" b="1" dirty="0"/>
              <a:t>240 - AUTORIZACAO COMERCIAL 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900" b="1" dirty="0"/>
              <a:t>339 - SAIDA INVENTARIO 300 ITENS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900" b="1" dirty="0"/>
              <a:t>340 - ENTRADA INVENTARIO 300 ITENS</a:t>
            </a:r>
          </a:p>
        </p:txBody>
      </p:sp>
    </p:spTree>
    <p:extLst>
      <p:ext uri="{BB962C8B-B14F-4D97-AF65-F5344CB8AC3E}">
        <p14:creationId xmlns:p14="http://schemas.microsoft.com/office/powerpoint/2010/main" val="3916592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5297" y="2442798"/>
            <a:ext cx="2397774" cy="886997"/>
          </a:xfrm>
        </p:spPr>
        <p:txBody>
          <a:bodyPr>
            <a:normAutofit/>
          </a:bodyPr>
          <a:lstStyle/>
          <a:p>
            <a:pPr algn="just"/>
            <a:r>
              <a:rPr lang="pt-BR" sz="1400" dirty="0"/>
              <a:t>Esta rotina serve para analisar todas os tipos de perdas.</a:t>
            </a:r>
            <a:endParaRPr lang="pt-BR" sz="10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Rotina 1021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Relatório WMS - Perdas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D73ECE9-7785-44D0-8316-4A91D8A87E8C}"/>
              </a:ext>
            </a:extLst>
          </p:cNvPr>
          <p:cNvSpPr txBox="1">
            <a:spLocks/>
          </p:cNvSpPr>
          <p:nvPr/>
        </p:nvSpPr>
        <p:spPr>
          <a:xfrm>
            <a:off x="1097279" y="5175772"/>
            <a:ext cx="4267200" cy="72720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Seleciona a filial &gt; Parâmetro de Data &gt; Pesquisar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sz="1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8929DB2-A757-409A-889C-D0FC3F9493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" y="2692965"/>
            <a:ext cx="5587384" cy="213635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E72861A-6BFE-4696-8E6B-52A3E592BD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523" y="3013353"/>
            <a:ext cx="2397774" cy="2889625"/>
          </a:xfrm>
          <a:prstGeom prst="rect">
            <a:avLst/>
          </a:prstGeom>
        </p:spPr>
      </p:pic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76C75035-5E4B-4249-8789-E529438CCB27}"/>
              </a:ext>
            </a:extLst>
          </p:cNvPr>
          <p:cNvSpPr txBox="1">
            <a:spLocks/>
          </p:cNvSpPr>
          <p:nvPr/>
        </p:nvSpPr>
        <p:spPr>
          <a:xfrm>
            <a:off x="1355393" y="5612190"/>
            <a:ext cx="3222620" cy="290788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/>
              <a:t>| Obs.: Pode filtrar de acordo com a situação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3312927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0DF36-176E-4335-91C0-3F54FC2A5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7430" y="2296494"/>
            <a:ext cx="2397774" cy="886997"/>
          </a:xfrm>
        </p:spPr>
        <p:txBody>
          <a:bodyPr>
            <a:normAutofit/>
          </a:bodyPr>
          <a:lstStyle/>
          <a:p>
            <a:pPr algn="just"/>
            <a:r>
              <a:rPr lang="pt-BR" sz="1400" dirty="0"/>
              <a:t>Esta rotina serve para analisar as metas de venda dos setores e loja.</a:t>
            </a:r>
            <a:endParaRPr lang="pt-BR" sz="10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Rotina 1074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Resultado Metas - Resultado Meta 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D73ECE9-7785-44D0-8316-4A91D8A87E8C}"/>
              </a:ext>
            </a:extLst>
          </p:cNvPr>
          <p:cNvSpPr txBox="1">
            <a:spLocks/>
          </p:cNvSpPr>
          <p:nvPr/>
        </p:nvSpPr>
        <p:spPr>
          <a:xfrm>
            <a:off x="1097279" y="5175772"/>
            <a:ext cx="4267200" cy="72720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Seleciona a filial &gt; Parâmetro de Data &gt; Pesquisar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sz="1200" dirty="0"/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76C75035-5E4B-4249-8789-E529438CCB27}"/>
              </a:ext>
            </a:extLst>
          </p:cNvPr>
          <p:cNvSpPr txBox="1">
            <a:spLocks/>
          </p:cNvSpPr>
          <p:nvPr/>
        </p:nvSpPr>
        <p:spPr>
          <a:xfrm>
            <a:off x="1355393" y="5612190"/>
            <a:ext cx="3222620" cy="290788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/>
              <a:t>| Obs.: Pode filtrar de acordo com a situação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8E4C25-82FE-4534-8A0D-DBEF4E824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" y="2108250"/>
            <a:ext cx="7516688" cy="215048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F57BBFA-05B0-4BBE-AA64-24E4B89FC3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290" y="3235141"/>
            <a:ext cx="1778053" cy="252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87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F4AA1-9871-8E04-30F8-3EF84614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3048845"/>
            <a:ext cx="7848600" cy="939800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Guia do Coletor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AF92BA1-8827-4F4C-B2C9-6DDC3AD062DA}"/>
              </a:ext>
            </a:extLst>
          </p:cNvPr>
          <p:cNvSpPr txBox="1">
            <a:spLocks/>
          </p:cNvSpPr>
          <p:nvPr/>
        </p:nvSpPr>
        <p:spPr>
          <a:xfrm>
            <a:off x="7179733" y="2108200"/>
            <a:ext cx="4919134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2408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Coletor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Passo a passo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D73ECE9-7785-44D0-8316-4A91D8A87E8C}"/>
              </a:ext>
            </a:extLst>
          </p:cNvPr>
          <p:cNvSpPr txBox="1">
            <a:spLocks/>
          </p:cNvSpPr>
          <p:nvPr/>
        </p:nvSpPr>
        <p:spPr>
          <a:xfrm>
            <a:off x="6888480" y="2219319"/>
            <a:ext cx="4267200" cy="231034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b="1" dirty="0"/>
              <a:t>Inventário:</a:t>
            </a:r>
            <a:r>
              <a:rPr lang="pt-BR" sz="1200" dirty="0"/>
              <a:t> Serve para inventário da loja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Inventário &gt; Inventário Loja &gt; Chave &gt; Digite N° 1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pt-BR" sz="12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b="1" dirty="0"/>
              <a:t>Estoque:</a:t>
            </a:r>
            <a:r>
              <a:rPr lang="pt-BR" sz="1200" dirty="0"/>
              <a:t> Para fazer as avarias dos setores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2. Estoque &gt; Perda &gt; Descrição da perda &gt; </a:t>
            </a:r>
            <a:r>
              <a:rPr lang="it-IT" sz="1200" dirty="0"/>
              <a:t>PERDA </a:t>
            </a:r>
            <a:r>
              <a:rPr lang="it-IT" sz="1200" b="1" dirty="0"/>
              <a:t>+</a:t>
            </a:r>
            <a:r>
              <a:rPr lang="it-IT" sz="1200" dirty="0"/>
              <a:t> </a:t>
            </a:r>
            <a:r>
              <a:rPr lang="it-IT" sz="1200" b="1" dirty="0"/>
              <a:t>SETOR</a:t>
            </a:r>
            <a:r>
              <a:rPr lang="it-IT" sz="1200" dirty="0"/>
              <a:t> </a:t>
            </a:r>
            <a:r>
              <a:rPr lang="it-IT" sz="1200" b="1" dirty="0"/>
              <a:t>+</a:t>
            </a:r>
            <a:r>
              <a:rPr lang="it-IT" sz="1200" dirty="0"/>
              <a:t> </a:t>
            </a:r>
            <a:r>
              <a:rPr lang="it-IT" sz="1200" b="1" dirty="0"/>
              <a:t>MOTIVO + DATA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it-IT" sz="1200" b="1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it-IT" sz="1200" b="1" dirty="0"/>
              <a:t>Recebimento:</a:t>
            </a:r>
            <a:r>
              <a:rPr lang="it-IT" sz="1200" dirty="0"/>
              <a:t> Serve para impressão de crachá palete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3. Recebimento &gt; Auditoria validade</a:t>
            </a:r>
            <a:endParaRPr lang="it-IT" sz="1200" dirty="0"/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sz="1200" dirty="0"/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/>
              <a:t>| Exemplo: PERDA FRIOS DEGUSTACAO 28 02 2026</a:t>
            </a:r>
            <a:endParaRPr lang="pt-BR" sz="1200" dirty="0"/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sz="12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CF580C3-BC0C-4B2A-B960-33783B42CA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03"/>
          <a:stretch/>
        </p:blipFill>
        <p:spPr>
          <a:xfrm>
            <a:off x="1355393" y="1979790"/>
            <a:ext cx="2010056" cy="427125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55CF985-AB03-4E0D-8748-349BBF9BC9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876" y="1979790"/>
            <a:ext cx="1905338" cy="3916529"/>
          </a:xfrm>
          <a:prstGeom prst="rect">
            <a:avLst/>
          </a:prstGeom>
        </p:spPr>
      </p:pic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6DB7478E-97A9-41A6-8788-CC1E18AFD7CE}"/>
              </a:ext>
            </a:extLst>
          </p:cNvPr>
          <p:cNvSpPr txBox="1">
            <a:spLocks/>
          </p:cNvSpPr>
          <p:nvPr/>
        </p:nvSpPr>
        <p:spPr>
          <a:xfrm>
            <a:off x="6888479" y="5750924"/>
            <a:ext cx="3457787" cy="329355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/>
              <a:t>| Obs.: Poderá fazer perdas dos setores somente das 7h ás 19h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8100406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F4AA1-9871-8E04-30F8-3EF84614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3048845"/>
            <a:ext cx="7848600" cy="939800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Guia do GmSuite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AF92BA1-8827-4F4C-B2C9-6DDC3AD062DA}"/>
              </a:ext>
            </a:extLst>
          </p:cNvPr>
          <p:cNvSpPr txBox="1">
            <a:spLocks/>
          </p:cNvSpPr>
          <p:nvPr/>
        </p:nvSpPr>
        <p:spPr>
          <a:xfrm>
            <a:off x="7179733" y="2108200"/>
            <a:ext cx="4919134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176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GmSuite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Passo a passo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D73ECE9-7785-44D0-8316-4A91D8A87E8C}"/>
              </a:ext>
            </a:extLst>
          </p:cNvPr>
          <p:cNvSpPr txBox="1">
            <a:spLocks/>
          </p:cNvSpPr>
          <p:nvPr/>
        </p:nvSpPr>
        <p:spPr>
          <a:xfrm>
            <a:off x="8212666" y="2273826"/>
            <a:ext cx="3708401" cy="28908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/>
              <a:t>R560 - Indicadores estoque: </a:t>
            </a:r>
            <a:r>
              <a:rPr lang="it-IT" sz="1200" dirty="0"/>
              <a:t>Serve para gerar relatório geral DDE para o aplicativo.</a:t>
            </a:r>
          </a:p>
          <a:p>
            <a:pPr marL="0" indent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1200" dirty="0"/>
              <a:t>Filtre a filial &gt; Exportar dados &gt; Dados resumidos &gt; </a:t>
            </a:r>
            <a:r>
              <a:rPr lang="pt-BR" sz="1100" b="0" i="0" dirty="0">
                <a:solidFill>
                  <a:srgbClr val="292929"/>
                </a:solidFill>
                <a:effectLst/>
                <a:latin typeface="Segoe UI" panose="020B0502040204020203" pitchFamily="34" charset="0"/>
              </a:rPr>
              <a:t>.xlsx (Excel, máximo de 150 000 linhas).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pt-BR" sz="1100" dirty="0">
              <a:solidFill>
                <a:srgbClr val="292929"/>
              </a:solidFill>
              <a:latin typeface="Segoe UI" panose="020B0502040204020203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/>
              <a:t>R562 - Análise margem comercial: </a:t>
            </a:r>
            <a:r>
              <a:rPr lang="it-IT" sz="1200" dirty="0"/>
              <a:t>Serve para analisar as metas de venda e venda atual.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sz="1200" b="1" dirty="0"/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/>
              <a:t>R569 - Acompanhamento de perdas: </a:t>
            </a:r>
            <a:r>
              <a:rPr lang="it-IT" sz="1200" dirty="0"/>
              <a:t>Serve para analisar as perdas da loja e setores.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sz="1200" b="1" dirty="0"/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/>
              <a:t>Produtos sem giro: </a:t>
            </a:r>
            <a:r>
              <a:rPr lang="it-IT" sz="1200" dirty="0"/>
              <a:t>Serve para ver as mercadorias que estão com baixa rotatividade de venda.</a:t>
            </a:r>
            <a:endParaRPr lang="it-IT" sz="1200" b="1" dirty="0"/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6DB7478E-97A9-41A6-8788-CC1E18AFD7CE}"/>
              </a:ext>
            </a:extLst>
          </p:cNvPr>
          <p:cNvSpPr txBox="1">
            <a:spLocks/>
          </p:cNvSpPr>
          <p:nvPr/>
        </p:nvSpPr>
        <p:spPr>
          <a:xfrm>
            <a:off x="6888479" y="5750924"/>
            <a:ext cx="4206242" cy="463609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/>
              <a:t>| Obs.: Todos podem ser exportados como arquivo excel, basta seguir os passos do R560 – Indicadores de estoque.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sz="1200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5F3EEA83-6C1A-4CF1-8CAE-14C364E9A389}"/>
              </a:ext>
            </a:extLst>
          </p:cNvPr>
          <p:cNvSpPr txBox="1">
            <a:spLocks/>
          </p:cNvSpPr>
          <p:nvPr/>
        </p:nvSpPr>
        <p:spPr>
          <a:xfrm>
            <a:off x="9538546" y="6469378"/>
            <a:ext cx="1976122" cy="32935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solidFill>
                  <a:schemeClr val="bg1"/>
                </a:solidFill>
              </a:rPr>
              <a:t>https://erp.gmsuite.com.br/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6B52EFA-8877-4178-8E39-D158AB5F1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" y="2211612"/>
            <a:ext cx="6641254" cy="3141462"/>
          </a:xfrm>
          <a:prstGeom prst="rect">
            <a:avLst/>
          </a:prstGeom>
        </p:spPr>
      </p:pic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2F54B408-8EAD-4873-A9A5-7AD26915883C}"/>
              </a:ext>
            </a:extLst>
          </p:cNvPr>
          <p:cNvSpPr txBox="1">
            <a:spLocks/>
          </p:cNvSpPr>
          <p:nvPr/>
        </p:nvSpPr>
        <p:spPr>
          <a:xfrm>
            <a:off x="1097279" y="5524407"/>
            <a:ext cx="4267200" cy="39119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/>
              <a:t>1. Relatórios &gt; Binâmicos &gt; Relatórios ativos</a:t>
            </a:r>
          </a:p>
        </p:txBody>
      </p:sp>
    </p:spTree>
    <p:extLst>
      <p:ext uri="{BB962C8B-B14F-4D97-AF65-F5344CB8AC3E}">
        <p14:creationId xmlns:p14="http://schemas.microsoft.com/office/powerpoint/2010/main" val="1263934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GmSuite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R560 - Estoque Venda Externa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D73ECE9-7785-44D0-8316-4A91D8A87E8C}"/>
              </a:ext>
            </a:extLst>
          </p:cNvPr>
          <p:cNvSpPr txBox="1">
            <a:spLocks/>
          </p:cNvSpPr>
          <p:nvPr/>
        </p:nvSpPr>
        <p:spPr>
          <a:xfrm>
            <a:off x="2215712" y="3183467"/>
            <a:ext cx="3708401" cy="19304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292929"/>
                </a:solidFill>
                <a:latin typeface="Segoe UI" panose="020B0502040204020203" pitchFamily="34" charset="0"/>
              </a:rPr>
              <a:t>Serve para acompanhar as vendas feitas anteriormente ao mês atual, tendo em vista a comparação entre ambos. A venda atual e o valor de estoque estão no indicatório da tabela mostrada. Através destes dados, possível criar uma base de DDE (Dias de Estoque).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pt-BR" sz="1100" dirty="0">
              <a:solidFill>
                <a:srgbClr val="292929"/>
              </a:solidFill>
              <a:latin typeface="Segoe UI" panose="020B0502040204020203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292929"/>
                </a:solidFill>
                <a:latin typeface="Segoe UI" panose="020B0502040204020203" pitchFamily="34" charset="0"/>
              </a:rPr>
              <a:t>Ressaltando que, os dias de estoque – DDE serve para entender se um produto pode ser recebido em loja. De acordo com a quantidade de estoque total.</a:t>
            </a:r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6DB7478E-97A9-41A6-8788-CC1E18AFD7CE}"/>
              </a:ext>
            </a:extLst>
          </p:cNvPr>
          <p:cNvSpPr txBox="1">
            <a:spLocks/>
          </p:cNvSpPr>
          <p:nvPr/>
        </p:nvSpPr>
        <p:spPr>
          <a:xfrm>
            <a:off x="6888479" y="5750924"/>
            <a:ext cx="4206242" cy="463609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/>
              <a:t>| Obs.: Todos podem ser exportados como arquivo excel, basta seguir os passos do R560 – Indicadores de estoque.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it-IT" sz="1200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5F3EEA83-6C1A-4CF1-8CAE-14C364E9A389}"/>
              </a:ext>
            </a:extLst>
          </p:cNvPr>
          <p:cNvSpPr txBox="1">
            <a:spLocks/>
          </p:cNvSpPr>
          <p:nvPr/>
        </p:nvSpPr>
        <p:spPr>
          <a:xfrm>
            <a:off x="9538546" y="6469378"/>
            <a:ext cx="1976122" cy="32935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solidFill>
                  <a:schemeClr val="bg1"/>
                </a:solidFill>
              </a:rPr>
              <a:t>https://erp.gmsuite.com.br/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2F54B408-8EAD-4873-A9A5-7AD26915883C}"/>
              </a:ext>
            </a:extLst>
          </p:cNvPr>
          <p:cNvSpPr txBox="1">
            <a:spLocks/>
          </p:cNvSpPr>
          <p:nvPr/>
        </p:nvSpPr>
        <p:spPr>
          <a:xfrm>
            <a:off x="541450" y="5787131"/>
            <a:ext cx="4267200" cy="391194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/>
              <a:t>1. Relatórios &gt; Binâmicos &gt; Relatórios ativos &gt; R560 - Estoque Venda Externa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ED0690C-8A3A-48C1-8064-9A68423B3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18" y="2187973"/>
            <a:ext cx="10991850" cy="819150"/>
          </a:xfrm>
          <a:prstGeom prst="rect">
            <a:avLst/>
          </a:prstGeom>
        </p:spPr>
      </p:pic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7326D046-B16E-4FDA-A4BF-C84AADE37DFE}"/>
              </a:ext>
            </a:extLst>
          </p:cNvPr>
          <p:cNvSpPr txBox="1">
            <a:spLocks/>
          </p:cNvSpPr>
          <p:nvPr/>
        </p:nvSpPr>
        <p:spPr>
          <a:xfrm>
            <a:off x="6267888" y="3183467"/>
            <a:ext cx="3708401" cy="19304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292929"/>
                </a:solidFill>
                <a:latin typeface="Segoe UI" panose="020B0502040204020203" pitchFamily="34" charset="0"/>
              </a:rPr>
              <a:t>Idade:</a:t>
            </a:r>
            <a:r>
              <a:rPr lang="pt-BR" sz="1100" dirty="0">
                <a:solidFill>
                  <a:srgbClr val="292929"/>
                </a:solidFill>
                <a:latin typeface="Segoe UI" panose="020B0502040204020203" pitchFamily="34" charset="0"/>
              </a:rPr>
              <a:t> Serve como parâmetro dos dias em que a mercadoria está em loja, desde do primeiro dia de entrada.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pt-BR" sz="1100" dirty="0">
              <a:solidFill>
                <a:srgbClr val="292929"/>
              </a:solidFill>
              <a:latin typeface="Segoe UI" panose="020B0502040204020203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292929"/>
                </a:solidFill>
                <a:latin typeface="Segoe UI" panose="020B0502040204020203" pitchFamily="34" charset="0"/>
              </a:rPr>
              <a:t>Custo Médio Unit. R$: </a:t>
            </a:r>
            <a:r>
              <a:rPr lang="pt-BR" sz="1100" dirty="0">
                <a:solidFill>
                  <a:srgbClr val="292929"/>
                </a:solidFill>
                <a:latin typeface="Segoe UI" panose="020B0502040204020203" pitchFamily="34" charset="0"/>
              </a:rPr>
              <a:t>Parâmetro dos preços de custo médio Mix Mateus x Fornecedor.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pt-BR" sz="1100" dirty="0">
              <a:solidFill>
                <a:srgbClr val="292929"/>
              </a:solidFill>
              <a:latin typeface="Segoe UI" panose="020B0502040204020203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292929"/>
                </a:solidFill>
                <a:latin typeface="Segoe UI" panose="020B0502040204020203" pitchFamily="34" charset="0"/>
              </a:rPr>
              <a:t>Custo (CMV) Unit: </a:t>
            </a:r>
            <a:r>
              <a:rPr lang="pt-BR" sz="1100" dirty="0">
                <a:solidFill>
                  <a:srgbClr val="292929"/>
                </a:solidFill>
                <a:latin typeface="Segoe UI" panose="020B0502040204020203" pitchFamily="34" charset="0"/>
              </a:rPr>
              <a:t>Parâmetro de custo médio entre Mix Mateus x Comercial x Cliente</a:t>
            </a:r>
          </a:p>
        </p:txBody>
      </p:sp>
    </p:spTree>
    <p:extLst>
      <p:ext uri="{BB962C8B-B14F-4D97-AF65-F5344CB8AC3E}">
        <p14:creationId xmlns:p14="http://schemas.microsoft.com/office/powerpoint/2010/main" val="225308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GmSuite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R560 - Estoque Venda Externa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5F3EEA83-6C1A-4CF1-8CAE-14C364E9A389}"/>
              </a:ext>
            </a:extLst>
          </p:cNvPr>
          <p:cNvSpPr txBox="1">
            <a:spLocks/>
          </p:cNvSpPr>
          <p:nvPr/>
        </p:nvSpPr>
        <p:spPr>
          <a:xfrm>
            <a:off x="9538546" y="6469378"/>
            <a:ext cx="1976122" cy="32935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solidFill>
                  <a:schemeClr val="bg1"/>
                </a:solidFill>
              </a:rPr>
              <a:t>https://erp.gmsuite.com.br/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1FCAC27-201F-46AA-BA9F-5E38F6217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0" y="1957588"/>
            <a:ext cx="7721599" cy="4122692"/>
          </a:xfrm>
          <a:prstGeom prst="rect">
            <a:avLst/>
          </a:prstGeom>
        </p:spPr>
      </p:pic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41498C6F-BF11-464C-A1E9-6C8285A09D1F}"/>
              </a:ext>
            </a:extLst>
          </p:cNvPr>
          <p:cNvSpPr txBox="1">
            <a:spLocks/>
          </p:cNvSpPr>
          <p:nvPr/>
        </p:nvSpPr>
        <p:spPr>
          <a:xfrm>
            <a:off x="3992880" y="6062464"/>
            <a:ext cx="4267200" cy="39119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/>
              <a:t>R560 - Estoque Venda Externa | Ampliado com os produtos*</a:t>
            </a:r>
          </a:p>
        </p:txBody>
      </p:sp>
    </p:spTree>
    <p:extLst>
      <p:ext uri="{BB962C8B-B14F-4D97-AF65-F5344CB8AC3E}">
        <p14:creationId xmlns:p14="http://schemas.microsoft.com/office/powerpoint/2010/main" val="4105631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F4AA1-9871-8E04-30F8-3EF84614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3048845"/>
            <a:ext cx="7848600" cy="939800"/>
          </a:xfrm>
        </p:spPr>
        <p:txBody>
          <a:bodyPr>
            <a:normAutofit/>
          </a:bodyPr>
          <a:lstStyle/>
          <a:p>
            <a:pPr algn="ctr"/>
            <a:r>
              <a:rPr lang="pt-BR" sz="6000" dirty="0"/>
              <a:t>Guia do Aplicativo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AF92BA1-8827-4F4C-B2C9-6DDC3AD062DA}"/>
              </a:ext>
            </a:extLst>
          </p:cNvPr>
          <p:cNvSpPr txBox="1">
            <a:spLocks/>
          </p:cNvSpPr>
          <p:nvPr/>
        </p:nvSpPr>
        <p:spPr>
          <a:xfrm>
            <a:off x="7179733" y="2108200"/>
            <a:ext cx="4919134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3757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Stoxen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Passo a passo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DCFA6C1-917E-44C8-8A8A-5A70DE190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594" y="2143280"/>
            <a:ext cx="1771650" cy="3937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ED307FF9-4074-422A-B861-976B56185C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67"/>
          <a:stretch/>
        </p:blipFill>
        <p:spPr>
          <a:xfrm>
            <a:off x="5282564" y="2122408"/>
            <a:ext cx="1771649" cy="3753229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EAA8A14F-A4A8-474F-83C6-8F578F1A00D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67"/>
          <a:stretch/>
        </p:blipFill>
        <p:spPr>
          <a:xfrm>
            <a:off x="7934533" y="2122408"/>
            <a:ext cx="1771650" cy="375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120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Stoxen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155543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Passo a passo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3D55937-EE84-4F15-B5A2-19828D796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177" y="2032470"/>
            <a:ext cx="2405799" cy="3745695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F7398266-2743-410F-A91B-00AA0DF9AB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9"/>
          <a:stretch/>
        </p:blipFill>
        <p:spPr>
          <a:xfrm>
            <a:off x="5191512" y="2032470"/>
            <a:ext cx="1808975" cy="383747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F5F3F8A-68A6-4366-8A5C-94FC922F86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4"/>
          <a:stretch/>
        </p:blipFill>
        <p:spPr>
          <a:xfrm>
            <a:off x="2437106" y="2032470"/>
            <a:ext cx="1815716" cy="383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904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Stoxen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483188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Passo a passo – Enviar arquivo excel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C486F8D-DC26-4845-83CC-769ED8178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40" y="2085623"/>
            <a:ext cx="1877059" cy="417124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51B3A1F-6CEE-4C5F-90EB-AF7D0EFF2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878" y="2085622"/>
            <a:ext cx="1877059" cy="4171241"/>
          </a:xfrm>
          <a:prstGeom prst="rect">
            <a:avLst/>
          </a:prstGeom>
        </p:spPr>
      </p:pic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8D4E240E-729D-43FE-A24A-9F6D5CE40426}"/>
              </a:ext>
            </a:extLst>
          </p:cNvPr>
          <p:cNvSpPr txBox="1">
            <a:spLocks/>
          </p:cNvSpPr>
          <p:nvPr/>
        </p:nvSpPr>
        <p:spPr>
          <a:xfrm>
            <a:off x="6888480" y="2219319"/>
            <a:ext cx="4267200" cy="231034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b="1" dirty="0"/>
              <a:t>Passo a passo para enviar arquivo Excel ao aplicativo para conferir DDE.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pt-BR" sz="1200" b="1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ID 002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2. Download &gt; Selecionar data.xlsx mais recente (De acordo com hora e data).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ou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ID 002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2. Android &gt; Media &gt; com.whatsapp &gt; WhatsApp &gt; Media &gt; WhatsApp documents &gt; Private ou Sent</a:t>
            </a:r>
          </a:p>
        </p:txBody>
      </p:sp>
    </p:spTree>
    <p:extLst>
      <p:ext uri="{BB962C8B-B14F-4D97-AF65-F5344CB8AC3E}">
        <p14:creationId xmlns:p14="http://schemas.microsoft.com/office/powerpoint/2010/main" val="8214467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4D656223-E5BE-454A-A873-3482515B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7720"/>
            <a:ext cx="10058400" cy="748452"/>
          </a:xfrm>
        </p:spPr>
        <p:txBody>
          <a:bodyPr/>
          <a:lstStyle/>
          <a:p>
            <a:r>
              <a:rPr lang="pt-BR" dirty="0"/>
              <a:t>Stoxen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0C935D-73C3-4E3C-B07D-5C6308AE7C95}"/>
              </a:ext>
            </a:extLst>
          </p:cNvPr>
          <p:cNvSpPr txBox="1">
            <a:spLocks/>
          </p:cNvSpPr>
          <p:nvPr/>
        </p:nvSpPr>
        <p:spPr>
          <a:xfrm>
            <a:off x="1097279" y="1504926"/>
            <a:ext cx="3483188" cy="2935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/>
              <a:t>| Passo a passo – Enviar arquivo excel</a:t>
            </a:r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8D4E240E-729D-43FE-A24A-9F6D5CE40426}"/>
              </a:ext>
            </a:extLst>
          </p:cNvPr>
          <p:cNvSpPr txBox="1">
            <a:spLocks/>
          </p:cNvSpPr>
          <p:nvPr/>
        </p:nvSpPr>
        <p:spPr>
          <a:xfrm>
            <a:off x="3517900" y="2720449"/>
            <a:ext cx="5156200" cy="314695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b="1" dirty="0"/>
              <a:t>Oportunidades: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pt-BR" sz="1200" b="1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Recomenda-se experimentar e usar as demais ferramentas do aplicativo que estará no celular da empresa (Docas).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pt-BR" sz="12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Ferramentas: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pt-BR" sz="12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1. Busca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2. Calcular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3. DDE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4. Validade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pt-BR" sz="1200" dirty="0"/>
              <a:t>5. Anotações</a:t>
            </a:r>
          </a:p>
        </p:txBody>
      </p:sp>
    </p:spTree>
    <p:extLst>
      <p:ext uri="{BB962C8B-B14F-4D97-AF65-F5344CB8AC3E}">
        <p14:creationId xmlns:p14="http://schemas.microsoft.com/office/powerpoint/2010/main" val="289156136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0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{158F58B4-41E3-4D24-ACA9-CB288446F6A7}tf56160789_win32</Template>
  <TotalTime>656</TotalTime>
  <Words>2171</Words>
  <Application>Microsoft Office PowerPoint</Application>
  <PresentationFormat>Widescreen</PresentationFormat>
  <Paragraphs>230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9" baseType="lpstr">
      <vt:lpstr>Bookman Old Style</vt:lpstr>
      <vt:lpstr>Calibri</vt:lpstr>
      <vt:lpstr>Franklin Gothic Book</vt:lpstr>
      <vt:lpstr>Segoe UI</vt:lpstr>
      <vt:lpstr>Personalizado</vt:lpstr>
      <vt:lpstr>Manual de Aprendizado</vt:lpstr>
      <vt:lpstr>Principais Tópicos :</vt:lpstr>
      <vt:lpstr>Postos do Prevenção de Perdas</vt:lpstr>
      <vt:lpstr>Posto P1</vt:lpstr>
      <vt:lpstr>Posto P2</vt:lpstr>
      <vt:lpstr>Posto P3</vt:lpstr>
      <vt:lpstr>Posto P4</vt:lpstr>
      <vt:lpstr>Posto P5</vt:lpstr>
      <vt:lpstr>Posto P6</vt:lpstr>
      <vt:lpstr>Posto Balcão de Atacado</vt:lpstr>
      <vt:lpstr>Posto de Avarias</vt:lpstr>
      <vt:lpstr>Guia do GMcore</vt:lpstr>
      <vt:lpstr>Rotina 414</vt:lpstr>
      <vt:lpstr>Rotina 414</vt:lpstr>
      <vt:lpstr>Rotina 414</vt:lpstr>
      <vt:lpstr>Rotina 418</vt:lpstr>
      <vt:lpstr>Rotina 422</vt:lpstr>
      <vt:lpstr>Rotina 422</vt:lpstr>
      <vt:lpstr>Rotina 620</vt:lpstr>
      <vt:lpstr>Rotina 617</vt:lpstr>
      <vt:lpstr>Rotina 999</vt:lpstr>
      <vt:lpstr>Rotina 1021</vt:lpstr>
      <vt:lpstr>Rotina 1074</vt:lpstr>
      <vt:lpstr>Guia do Coletor</vt:lpstr>
      <vt:lpstr>Coletor</vt:lpstr>
      <vt:lpstr>Guia do GmSuite</vt:lpstr>
      <vt:lpstr>GmSuite</vt:lpstr>
      <vt:lpstr>GmSuite</vt:lpstr>
      <vt:lpstr>GmSuite</vt:lpstr>
      <vt:lpstr>Guia do Aplicativo</vt:lpstr>
      <vt:lpstr>Stoxen</vt:lpstr>
      <vt:lpstr>Stoxen</vt:lpstr>
      <vt:lpstr>Stoxen</vt:lpstr>
      <vt:lpstr>Stoxen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de Metas</dc:title>
  <dc:creator>Gustavo Henrique</dc:creator>
  <cp:keywords>Stoxen</cp:keywords>
  <cp:lastModifiedBy>Gustavo Henrique dos Santos Balbino Ribeiro</cp:lastModifiedBy>
  <cp:revision>154</cp:revision>
  <cp:lastPrinted>2026-02-07T11:06:30Z</cp:lastPrinted>
  <dcterms:created xsi:type="dcterms:W3CDTF">2026-02-06T23:41:23Z</dcterms:created>
  <dcterms:modified xsi:type="dcterms:W3CDTF">2026-04-14T16:46:36Z</dcterms:modified>
</cp:coreProperties>
</file>